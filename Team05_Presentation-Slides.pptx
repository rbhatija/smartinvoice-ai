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69" r:id="rId15"/>
    <p:sldId id="270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6350" cap="flat">
              <a:solidFill>
                <a:schemeClr val="accent2"/>
              </a:solidFill>
              <a:prstDash val="solid"/>
              <a:miter lim="800000"/>
            </a:ln>
          </a:left>
          <a:right>
            <a:ln w="6350" cap="flat">
              <a:solidFill>
                <a:schemeClr val="accent2"/>
              </a:solidFill>
              <a:prstDash val="solid"/>
              <a:miter lim="8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2"/>
              </a:solidFill>
              <a:prstDash val="solid"/>
              <a:round/>
            </a:ln>
          </a:top>
          <a:bottom>
            <a:ln w="6350" cap="flat">
              <a:solidFill>
                <a:schemeClr val="accent2"/>
              </a:solidFill>
              <a:prstDash val="solid"/>
              <a:miter lim="8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" cap="flat">
              <a:solidFill>
                <a:schemeClr val="accent2"/>
              </a:solidFill>
              <a:prstDash val="solid"/>
              <a:miter lim="800000"/>
            </a:ln>
          </a:top>
          <a:bottom>
            <a:ln w="6350" cap="flat">
              <a:solidFill>
                <a:schemeClr val="accent2"/>
              </a:solidFill>
              <a:prstDash val="solid"/>
              <a:miter lim="8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8D9"/>
          </a:solidFill>
        </a:fill>
      </a:tcStyle>
    </a:wholeTbl>
    <a:band2H>
      <a:tcTxStyle/>
      <a:tcStyle>
        <a:tcBdr/>
        <a:fill>
          <a:solidFill>
            <a:srgbClr val="E6F4ED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CAE1"/>
          </a:solidFill>
        </a:fill>
      </a:tcStyle>
    </a:wholeTbl>
    <a:band2H>
      <a:tcTxStyle/>
      <a:tcStyle>
        <a:tcBdr/>
        <a:fill>
          <a:solidFill>
            <a:srgbClr val="F7E6F1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CD0"/>
          </a:solidFill>
        </a:fill>
      </a:tcStyle>
    </a:wholeTbl>
    <a:band2H>
      <a:tcTxStyle/>
      <a:tcStyle>
        <a:tcBdr/>
        <a:fill>
          <a:solidFill>
            <a:srgbClr val="E7E7E9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43"/>
  </p:normalViewPr>
  <p:slideViewPr>
    <p:cSldViewPr snapToGrid="0">
      <p:cViewPr varScale="1">
        <p:scale>
          <a:sx n="115" d="100"/>
          <a:sy n="115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6" name="Shape 2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359148" y="389839"/>
            <a:ext cx="8281988" cy="2954656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359148" y="3536951"/>
            <a:ext cx="8281990" cy="25558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Freeform: Shape 18"/>
          <p:cNvSpPr/>
          <p:nvPr/>
        </p:nvSpPr>
        <p:spPr>
          <a:xfrm rot="2700000">
            <a:off x="612445" y="481887"/>
            <a:ext cx="1080001" cy="12629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287" y="15923"/>
                </a:lnTo>
                <a:lnTo>
                  <a:pt x="21381" y="16052"/>
                </a:lnTo>
                <a:cubicBezTo>
                  <a:pt x="21524" y="16352"/>
                  <a:pt x="21600" y="16663"/>
                  <a:pt x="21600" y="16982"/>
                </a:cubicBezTo>
                <a:cubicBezTo>
                  <a:pt x="21600" y="19533"/>
                  <a:pt x="16765" y="21600"/>
                  <a:pt x="10800" y="21600"/>
                </a:cubicBezTo>
                <a:cubicBezTo>
                  <a:pt x="4835" y="21600"/>
                  <a:pt x="0" y="19533"/>
                  <a:pt x="0" y="16982"/>
                </a:cubicBezTo>
                <a:cubicBezTo>
                  <a:pt x="0" y="16663"/>
                  <a:pt x="76" y="16352"/>
                  <a:pt x="219" y="16052"/>
                </a:cubicBezTo>
                <a:lnTo>
                  <a:pt x="313" y="15923"/>
                </a:lnTo>
                <a:lnTo>
                  <a:pt x="10800" y="0"/>
                </a:lnTo>
                <a:close/>
              </a:path>
            </a:pathLst>
          </a:custGeom>
          <a:gradFill>
            <a:gsLst>
              <a:gs pos="30000">
                <a:srgbClr val="2C284A"/>
              </a:gs>
              <a:gs pos="40000">
                <a:srgbClr val="454075"/>
              </a:gs>
              <a:gs pos="60000">
                <a:srgbClr val="2C284A"/>
              </a:gs>
              <a:gs pos="100000">
                <a:srgbClr val="1B192E"/>
              </a:gs>
            </a:gsLst>
            <a:lin ang="6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Oval 19"/>
          <p:cNvSpPr/>
          <p:nvPr/>
        </p:nvSpPr>
        <p:spPr>
          <a:xfrm rot="8100000">
            <a:off x="626845" y="828961"/>
            <a:ext cx="540000" cy="1080001"/>
          </a:xfrm>
          <a:prstGeom prst="ellipse">
            <a:avLst/>
          </a:prstGeom>
          <a:gradFill>
            <a:gsLst>
              <a:gs pos="50000">
                <a:srgbClr val="23213C"/>
              </a:gs>
              <a:gs pos="100000">
                <a:srgbClr val="2C284A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Oval 24"/>
          <p:cNvSpPr/>
          <p:nvPr/>
        </p:nvSpPr>
        <p:spPr>
          <a:xfrm>
            <a:off x="1800802" y="2472855"/>
            <a:ext cx="360001" cy="360001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0" name="Group 33"/>
          <p:cNvGrpSpPr/>
          <p:nvPr/>
        </p:nvGrpSpPr>
        <p:grpSpPr>
          <a:xfrm>
            <a:off x="1292492" y="4299807"/>
            <a:ext cx="2083887" cy="2083886"/>
            <a:chOff x="0" y="0"/>
            <a:chExt cx="2083885" cy="2083885"/>
          </a:xfrm>
        </p:grpSpPr>
        <p:sp>
          <p:nvSpPr>
            <p:cNvPr id="16" name="Freeform: Shape 34"/>
            <p:cNvSpPr/>
            <p:nvPr/>
          </p:nvSpPr>
          <p:spPr>
            <a:xfrm rot="8100000" flipH="1">
              <a:off x="163491" y="634348"/>
              <a:ext cx="1853970" cy="926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Freeform: Shape 35"/>
            <p:cNvSpPr/>
            <p:nvPr/>
          </p:nvSpPr>
          <p:spPr>
            <a:xfrm rot="8100000" flipH="1">
              <a:off x="114958" y="495397"/>
              <a:ext cx="1853970" cy="109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Oval 36"/>
            <p:cNvSpPr/>
            <p:nvPr/>
          </p:nvSpPr>
          <p:spPr>
            <a:xfrm rot="2700000" flipH="1">
              <a:off x="1198230" y="44825"/>
              <a:ext cx="107099" cy="466591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" name="Oval 37"/>
            <p:cNvSpPr/>
            <p:nvPr/>
          </p:nvSpPr>
          <p:spPr>
            <a:xfrm rot="2700000" flipH="1">
              <a:off x="217204" y="1025851"/>
              <a:ext cx="107099" cy="466591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11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28" name="Freeform: Shape 12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" name="Oval 13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Oval 14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Freeform: Shape 15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idx="1"/>
          </p:nvPr>
        </p:nvSpPr>
        <p:spPr>
          <a:xfrm>
            <a:off x="550862" y="2113198"/>
            <a:ext cx="11090276" cy="39796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7"/>
          <p:cNvGrpSpPr/>
          <p:nvPr/>
        </p:nvGrpSpPr>
        <p:grpSpPr>
          <a:xfrm>
            <a:off x="242406" y="748159"/>
            <a:ext cx="897878" cy="934083"/>
            <a:chOff x="0" y="0"/>
            <a:chExt cx="897876" cy="934082"/>
          </a:xfrm>
        </p:grpSpPr>
        <p:sp>
          <p:nvSpPr>
            <p:cNvPr id="42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563562" y="474344"/>
            <a:ext cx="11077576" cy="2954656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66271" y="3629771"/>
            <a:ext cx="11074866" cy="267895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800"/>
              </a:spcBef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1pPr>
            <a:lvl2pPr marL="0" indent="457200">
              <a:spcBef>
                <a:spcPts val="800"/>
              </a:spcBef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2pPr>
            <a:lvl3pPr marL="0" indent="914400">
              <a:spcBef>
                <a:spcPts val="800"/>
              </a:spcBef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3pPr>
            <a:lvl4pPr marL="0" indent="1371600">
              <a:spcBef>
                <a:spcPts val="800"/>
              </a:spcBef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4pPr>
            <a:lvl5pPr marL="0" indent="1828800">
              <a:spcBef>
                <a:spcPts val="800"/>
              </a:spcBef>
              <a:buSzTx/>
              <a:buFontTx/>
              <a:buNone/>
              <a:defRPr>
                <a:solidFill>
                  <a:srgbClr val="FFFFFF">
                    <a:alpha val="80000"/>
                  </a:srgbClr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Freeform: Shape 40"/>
          <p:cNvSpPr/>
          <p:nvPr/>
        </p:nvSpPr>
        <p:spPr>
          <a:xfrm rot="18900000">
            <a:off x="11209132" y="4448188"/>
            <a:ext cx="999201" cy="1262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73" y="0"/>
                </a:moveTo>
                <a:lnTo>
                  <a:pt x="21600" y="13944"/>
                </a:lnTo>
                <a:lnTo>
                  <a:pt x="11937" y="21589"/>
                </a:lnTo>
                <a:lnTo>
                  <a:pt x="11673" y="21600"/>
                </a:lnTo>
                <a:cubicBezTo>
                  <a:pt x="5226" y="21600"/>
                  <a:pt x="0" y="19533"/>
                  <a:pt x="0" y="16982"/>
                </a:cubicBezTo>
                <a:cubicBezTo>
                  <a:pt x="0" y="16663"/>
                  <a:pt x="82" y="16352"/>
                  <a:pt x="237" y="16052"/>
                </a:cubicBezTo>
                <a:lnTo>
                  <a:pt x="338" y="15923"/>
                </a:lnTo>
                <a:close/>
              </a:path>
            </a:pathLst>
          </a:custGeom>
          <a:gradFill>
            <a:gsLst>
              <a:gs pos="30000">
                <a:srgbClr val="2C284A"/>
              </a:gs>
              <a:gs pos="40000">
                <a:srgbClr val="454075"/>
              </a:gs>
              <a:gs pos="60000">
                <a:srgbClr val="2C284A"/>
              </a:gs>
              <a:gs pos="100000">
                <a:srgbClr val="1B192E"/>
              </a:gs>
            </a:gsLst>
            <a:lin ang="10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Freeform: Shape 42"/>
          <p:cNvSpPr/>
          <p:nvPr/>
        </p:nvSpPr>
        <p:spPr>
          <a:xfrm rot="2700000">
            <a:off x="11686937" y="4853516"/>
            <a:ext cx="540001" cy="9782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32" y="0"/>
                </a:moveTo>
                <a:lnTo>
                  <a:pt x="21575" y="9408"/>
                </a:lnTo>
                <a:lnTo>
                  <a:pt x="21600" y="9677"/>
                </a:lnTo>
                <a:cubicBezTo>
                  <a:pt x="21600" y="16262"/>
                  <a:pt x="16765" y="21600"/>
                  <a:pt x="10800" y="21600"/>
                </a:cubicBezTo>
                <a:cubicBezTo>
                  <a:pt x="4835" y="21600"/>
                  <a:pt x="0" y="16262"/>
                  <a:pt x="0" y="9677"/>
                </a:cubicBezTo>
                <a:cubicBezTo>
                  <a:pt x="0" y="6385"/>
                  <a:pt x="1209" y="3404"/>
                  <a:pt x="3163" y="1246"/>
                </a:cubicBezTo>
                <a:close/>
              </a:path>
            </a:pathLst>
          </a:custGeom>
          <a:solidFill>
            <a:srgbClr val="2C28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21"/>
          <p:cNvSpPr/>
          <p:nvPr/>
        </p:nvSpPr>
        <p:spPr>
          <a:xfrm>
            <a:off x="11069863" y="333375"/>
            <a:ext cx="360001" cy="360000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0" name="Group 12"/>
          <p:cNvGrpSpPr/>
          <p:nvPr/>
        </p:nvGrpSpPr>
        <p:grpSpPr>
          <a:xfrm>
            <a:off x="233344" y="5384019"/>
            <a:ext cx="828358" cy="828358"/>
            <a:chOff x="0" y="0"/>
            <a:chExt cx="828357" cy="828357"/>
          </a:xfrm>
        </p:grpSpPr>
        <p:sp>
          <p:nvSpPr>
            <p:cNvPr id="58" name="Freeform: Shape 19"/>
            <p:cNvSpPr/>
            <p:nvPr/>
          </p:nvSpPr>
          <p:spPr>
            <a:xfrm rot="2700000">
              <a:off x="144178" y="98441"/>
              <a:ext cx="540001" cy="631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454075"/>
                </a:gs>
                <a:gs pos="60000">
                  <a:srgbClr val="2C284A"/>
                </a:gs>
                <a:gs pos="100000">
                  <a:srgbClr val="1B192E"/>
                </a:gs>
              </a:gsLst>
              <a:lin ang="6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9" name="Oval 20"/>
            <p:cNvSpPr/>
            <p:nvPr/>
          </p:nvSpPr>
          <p:spPr>
            <a:xfrm rot="8100000">
              <a:off x="151378" y="271978"/>
              <a:ext cx="270001" cy="540001"/>
            </a:xfrm>
            <a:prstGeom prst="ellipse">
              <a:avLst/>
            </a:prstGeom>
            <a:gradFill flip="none" rotWithShape="1">
              <a:gsLst>
                <a:gs pos="50000">
                  <a:srgbClr val="23213C"/>
                </a:gs>
                <a:gs pos="100000">
                  <a:srgbClr val="2C284A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550862" y="549275"/>
            <a:ext cx="11090276" cy="133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50862" y="2097175"/>
            <a:ext cx="5435601" cy="39956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val 11"/>
          <p:cNvSpPr/>
          <p:nvPr/>
        </p:nvSpPr>
        <p:spPr>
          <a:xfrm>
            <a:off x="11091612" y="5893465"/>
            <a:ext cx="360001" cy="360001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" name="Rectangle 10"/>
          <p:cNvSpPr/>
          <p:nvPr/>
        </p:nvSpPr>
        <p:spPr>
          <a:xfrm>
            <a:off x="11451611" y="5827877"/>
            <a:ext cx="379050" cy="360001"/>
          </a:xfrm>
          <a:prstGeom prst="rect">
            <a:avLst/>
          </a:prstGeom>
          <a:solidFill>
            <a:srgbClr val="1B192E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550862" y="549275"/>
            <a:ext cx="11097552" cy="13320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50864" y="1881275"/>
            <a:ext cx="5437186" cy="53535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400" cap="all" spc="200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1400" cap="all" spc="200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1400" cap="all" spc="200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1400" cap="all" spc="200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1400" cap="all" spc="2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212024" y="1881275"/>
            <a:ext cx="5436392" cy="535355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1400" cap="all" spc="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3359148" y="550798"/>
            <a:ext cx="8283314" cy="5542026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83" name="Freeform: Shape 38"/>
          <p:cNvSpPr/>
          <p:nvPr/>
        </p:nvSpPr>
        <p:spPr>
          <a:xfrm rot="18900000" flipV="1">
            <a:off x="-410727" y="3958416"/>
            <a:ext cx="3536330" cy="1853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21600" y="9671"/>
                  <a:pt x="16530" y="0"/>
                  <a:pt x="10276" y="0"/>
                </a:cubicBezTo>
                <a:cubicBezTo>
                  <a:pt x="5976" y="0"/>
                  <a:pt x="2236" y="4571"/>
                  <a:pt x="319" y="11304"/>
                </a:cubicBezTo>
                <a:lnTo>
                  <a:pt x="0" y="12566"/>
                </a:lnTo>
                <a:lnTo>
                  <a:pt x="4625" y="21388"/>
                </a:lnTo>
                <a:lnTo>
                  <a:pt x="4729" y="19423"/>
                </a:lnTo>
                <a:cubicBezTo>
                  <a:pt x="5257" y="14502"/>
                  <a:pt x="7540" y="10800"/>
                  <a:pt x="10276" y="10800"/>
                </a:cubicBezTo>
                <a:cubicBezTo>
                  <a:pt x="13403" y="10800"/>
                  <a:pt x="15938" y="15635"/>
                  <a:pt x="15938" y="21600"/>
                </a:cubicBezTo>
                <a:close/>
              </a:path>
            </a:pathLst>
          </a:custGeom>
          <a:gradFill>
            <a:gsLst>
              <a:gs pos="31000">
                <a:srgbClr val="2C284A"/>
              </a:gs>
              <a:gs pos="97000">
                <a:srgbClr val="1B192E"/>
              </a:gs>
            </a:gsLst>
            <a:lin ang="150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" name="Freeform: Shape 32"/>
          <p:cNvSpPr/>
          <p:nvPr/>
        </p:nvSpPr>
        <p:spPr>
          <a:xfrm rot="18900000" flipV="1">
            <a:off x="-481151" y="3649707"/>
            <a:ext cx="3478701" cy="21648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21600" y="9671"/>
                  <a:pt x="16446" y="0"/>
                  <a:pt x="10088" y="0"/>
                </a:cubicBezTo>
                <a:cubicBezTo>
                  <a:pt x="6115" y="0"/>
                  <a:pt x="2611" y="3778"/>
                  <a:pt x="543" y="9523"/>
                </a:cubicBezTo>
                <a:lnTo>
                  <a:pt x="0" y="11199"/>
                </a:lnTo>
                <a:lnTo>
                  <a:pt x="4570" y="18543"/>
                </a:lnTo>
                <a:lnTo>
                  <a:pt x="4591" y="18388"/>
                </a:lnTo>
                <a:cubicBezTo>
                  <a:pt x="5320" y="13992"/>
                  <a:pt x="7505" y="10800"/>
                  <a:pt x="10088" y="10800"/>
                </a:cubicBezTo>
                <a:cubicBezTo>
                  <a:pt x="13267" y="10800"/>
                  <a:pt x="15844" y="15635"/>
                  <a:pt x="15844" y="21600"/>
                </a:cubicBezTo>
                <a:close/>
              </a:path>
            </a:pathLst>
          </a:custGeom>
          <a:solidFill>
            <a:srgbClr val="7771B2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" name="Oval 23"/>
          <p:cNvSpPr/>
          <p:nvPr/>
        </p:nvSpPr>
        <p:spPr>
          <a:xfrm rot="13500000" flipV="1">
            <a:off x="1512276" y="2840041"/>
            <a:ext cx="214197" cy="933179"/>
          </a:xfrm>
          <a:prstGeom prst="ellipse">
            <a:avLst/>
          </a:prstGeom>
          <a:solidFill>
            <a:srgbClr val="2C28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" name="Oval 41"/>
          <p:cNvSpPr/>
          <p:nvPr/>
        </p:nvSpPr>
        <p:spPr>
          <a:xfrm>
            <a:off x="1780661" y="385236"/>
            <a:ext cx="1080001" cy="1080000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90" name="Group 50"/>
          <p:cNvGrpSpPr/>
          <p:nvPr/>
        </p:nvGrpSpPr>
        <p:grpSpPr>
          <a:xfrm>
            <a:off x="509106" y="1383159"/>
            <a:ext cx="897878" cy="934083"/>
            <a:chOff x="0" y="0"/>
            <a:chExt cx="897876" cy="934082"/>
          </a:xfrm>
        </p:grpSpPr>
        <p:sp>
          <p:nvSpPr>
            <p:cNvPr id="87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8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9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7"/>
          <p:cNvGrpSpPr/>
          <p:nvPr/>
        </p:nvGrpSpPr>
        <p:grpSpPr>
          <a:xfrm>
            <a:off x="4752747" y="4823503"/>
            <a:ext cx="1656715" cy="1656715"/>
            <a:chOff x="0" y="0"/>
            <a:chExt cx="1656713" cy="1656713"/>
          </a:xfrm>
        </p:grpSpPr>
        <p:sp>
          <p:nvSpPr>
            <p:cNvPr id="105" name="Freeform: Shape 10"/>
            <p:cNvSpPr/>
            <p:nvPr/>
          </p:nvSpPr>
          <p:spPr>
            <a:xfrm rot="2700000">
              <a:off x="288356" y="196883"/>
              <a:ext cx="1080001" cy="1262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454075"/>
                </a:gs>
                <a:gs pos="60000">
                  <a:srgbClr val="2C284A"/>
                </a:gs>
                <a:gs pos="100000">
                  <a:srgbClr val="1B192E"/>
                </a:gs>
              </a:gsLst>
              <a:lin ang="6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6" name="Oval 11"/>
            <p:cNvSpPr/>
            <p:nvPr/>
          </p:nvSpPr>
          <p:spPr>
            <a:xfrm rot="8100000">
              <a:off x="302756" y="543957"/>
              <a:ext cx="540001" cy="1080001"/>
            </a:xfrm>
            <a:prstGeom prst="ellipse">
              <a:avLst/>
            </a:prstGeom>
            <a:gradFill flip="none" rotWithShape="1">
              <a:gsLst>
                <a:gs pos="50000">
                  <a:srgbClr val="23213C"/>
                </a:gs>
                <a:gs pos="100000">
                  <a:srgbClr val="2C284A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xfrm>
            <a:off x="550862" y="549275"/>
            <a:ext cx="11090276" cy="98488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295775" y="1750060"/>
            <a:ext cx="7345362" cy="434276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 marL="685800" indent="-228600">
              <a:defRPr sz="1600"/>
            </a:lvl2pPr>
            <a:lvl3pPr marL="1143000" indent="-228600">
              <a:defRPr sz="1600"/>
            </a:lvl3pPr>
            <a:lvl4pPr marL="1600200" indent="-228600">
              <a:defRPr sz="1600"/>
            </a:lvl4pPr>
            <a:lvl5pPr marL="2057400" indent="-228600"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550862" y="1750059"/>
            <a:ext cx="3565526" cy="434276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6"/>
          <p:cNvGrpSpPr/>
          <p:nvPr/>
        </p:nvGrpSpPr>
        <p:grpSpPr>
          <a:xfrm>
            <a:off x="220889" y="4984670"/>
            <a:ext cx="897878" cy="934083"/>
            <a:chOff x="0" y="0"/>
            <a:chExt cx="897876" cy="934082"/>
          </a:xfrm>
        </p:grpSpPr>
        <p:sp>
          <p:nvSpPr>
            <p:cNvPr id="118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9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0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2" name="Title Text"/>
          <p:cNvSpPr txBox="1">
            <a:spLocks noGrp="1"/>
          </p:cNvSpPr>
          <p:nvPr>
            <p:ph type="title"/>
          </p:nvPr>
        </p:nvSpPr>
        <p:spPr>
          <a:xfrm>
            <a:off x="550862" y="575409"/>
            <a:ext cx="4500564" cy="98488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23" name="Picture Placeholder 2"/>
          <p:cNvSpPr>
            <a:spLocks noGrp="1"/>
          </p:cNvSpPr>
          <p:nvPr>
            <p:ph type="pic" idx="21"/>
          </p:nvPr>
        </p:nvSpPr>
        <p:spPr>
          <a:xfrm>
            <a:off x="5267323" y="575409"/>
            <a:ext cx="6373814" cy="573331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50862" y="1776195"/>
            <a:ext cx="4500564" cy="453253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7018019" y="662937"/>
            <a:ext cx="4624443" cy="5542025"/>
          </a:xfrm>
          <a:prstGeom prst="rect">
            <a:avLst/>
          </a:prstGeom>
        </p:spPr>
        <p:txBody>
          <a:bodyPr anchor="ctr"/>
          <a:lstStyle/>
          <a:p>
            <a:r>
              <a:t>Click to add title</a:t>
            </a:r>
          </a:p>
        </p:txBody>
      </p:sp>
      <p:sp>
        <p:nvSpPr>
          <p:cNvPr id="133" name="Picture Placeholder 8"/>
          <p:cNvSpPr>
            <a:spLocks noGrp="1"/>
          </p:cNvSpPr>
          <p:nvPr>
            <p:ph type="pic" idx="21"/>
          </p:nvPr>
        </p:nvSpPr>
        <p:spPr>
          <a:xfrm>
            <a:off x="0" y="0"/>
            <a:ext cx="626745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22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141" name="Freeform: Shape 23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2" name="Oval 24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3" name="Oval 25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4" name="Freeform: Shape 26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46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550862" y="483923"/>
            <a:ext cx="11090276" cy="1684061"/>
          </a:xfrm>
          <a:prstGeom prst="rect">
            <a:avLst/>
          </a:prstGeom>
        </p:spPr>
        <p:txBody>
          <a:bodyPr anchor="b"/>
          <a:lstStyle>
            <a:lvl1pPr>
              <a:defRPr sz="4000"/>
            </a:lvl1pPr>
          </a:lstStyle>
          <a:p>
            <a:r>
              <a:t>Click to add title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50862" y="2419350"/>
            <a:ext cx="11090276" cy="3913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>
              <a:buFontTx/>
              <a:defRPr sz="1800">
                <a:solidFill>
                  <a:srgbClr val="FFFFFF"/>
                </a:solidFill>
              </a:defRPr>
            </a:lvl2pPr>
            <a:lvl3pPr>
              <a:buFontTx/>
              <a:defRPr sz="1800">
                <a:solidFill>
                  <a:srgbClr val="FFFFFF"/>
                </a:solidFill>
              </a:defRPr>
            </a:lvl3pPr>
            <a:lvl4pPr>
              <a:buFontTx/>
              <a:defRPr sz="1800">
                <a:solidFill>
                  <a:srgbClr val="FFFFFF"/>
                </a:solidFill>
              </a:defRPr>
            </a:lvl4pPr>
            <a:lvl5pPr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Click to add content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grpSp>
        <p:nvGrpSpPr>
          <p:cNvPr id="151" name="Group 4"/>
          <p:cNvGrpSpPr/>
          <p:nvPr/>
        </p:nvGrpSpPr>
        <p:grpSpPr>
          <a:xfrm>
            <a:off x="8896749" y="1383159"/>
            <a:ext cx="897878" cy="934083"/>
            <a:chOff x="0" y="0"/>
            <a:chExt cx="897876" cy="934082"/>
          </a:xfrm>
        </p:grpSpPr>
        <p:sp>
          <p:nvSpPr>
            <p:cNvPr id="148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9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0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52" name="Oval 10"/>
          <p:cNvSpPr/>
          <p:nvPr/>
        </p:nvSpPr>
        <p:spPr>
          <a:xfrm>
            <a:off x="10168304" y="385236"/>
            <a:ext cx="1080001" cy="1080000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57" name="Group 11"/>
          <p:cNvGrpSpPr/>
          <p:nvPr/>
        </p:nvGrpSpPr>
        <p:grpSpPr>
          <a:xfrm>
            <a:off x="8925425" y="2736835"/>
            <a:ext cx="3990590" cy="4054324"/>
            <a:chOff x="0" y="0"/>
            <a:chExt cx="3990589" cy="4054323"/>
          </a:xfrm>
        </p:grpSpPr>
        <p:sp>
          <p:nvSpPr>
            <p:cNvPr id="153" name="Freeform: Shape 38"/>
            <p:cNvSpPr/>
            <p:nvPr/>
          </p:nvSpPr>
          <p:spPr>
            <a:xfrm rot="13500000">
              <a:off x="137593" y="1221580"/>
              <a:ext cx="3536331" cy="1853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9671"/>
                    <a:pt x="16530" y="0"/>
                    <a:pt x="10276" y="0"/>
                  </a:cubicBezTo>
                  <a:cubicBezTo>
                    <a:pt x="5976" y="0"/>
                    <a:pt x="2236" y="4571"/>
                    <a:pt x="319" y="11304"/>
                  </a:cubicBezTo>
                  <a:lnTo>
                    <a:pt x="0" y="12566"/>
                  </a:lnTo>
                  <a:lnTo>
                    <a:pt x="4625" y="21388"/>
                  </a:lnTo>
                  <a:lnTo>
                    <a:pt x="4729" y="19423"/>
                  </a:lnTo>
                  <a:cubicBezTo>
                    <a:pt x="5257" y="14502"/>
                    <a:pt x="7540" y="10800"/>
                    <a:pt x="10276" y="10800"/>
                  </a:cubicBezTo>
                  <a:cubicBezTo>
                    <a:pt x="13403" y="10800"/>
                    <a:pt x="15938" y="15635"/>
                    <a:pt x="15938" y="21600"/>
                  </a:cubicBezTo>
                  <a:close/>
                </a:path>
              </a:pathLst>
            </a:custGeom>
            <a:gradFill flip="none" rotWithShape="1">
              <a:gsLst>
                <a:gs pos="31000">
                  <a:srgbClr val="2C284A"/>
                </a:gs>
                <a:gs pos="97000">
                  <a:srgbClr val="1B192E"/>
                </a:gs>
              </a:gsLst>
              <a:lin ang="15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56" name="Group 13"/>
            <p:cNvGrpSpPr/>
            <p:nvPr/>
          </p:nvGrpSpPr>
          <p:grpSpPr>
            <a:xfrm>
              <a:off x="0" y="0"/>
              <a:ext cx="3990590" cy="3990589"/>
              <a:chOff x="0" y="0"/>
              <a:chExt cx="3990588" cy="3990588"/>
            </a:xfrm>
          </p:grpSpPr>
          <p:sp>
            <p:nvSpPr>
              <p:cNvPr id="154" name="Freeform: Shape 32"/>
              <p:cNvSpPr/>
              <p:nvPr/>
            </p:nvSpPr>
            <p:spPr>
              <a:xfrm rot="13500000">
                <a:off x="255943" y="912872"/>
                <a:ext cx="3478703" cy="2164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600" y="9671"/>
                      <a:pt x="16446" y="0"/>
                      <a:pt x="10088" y="0"/>
                    </a:cubicBezTo>
                    <a:cubicBezTo>
                      <a:pt x="6115" y="0"/>
                      <a:pt x="2611" y="3778"/>
                      <a:pt x="543" y="9523"/>
                    </a:cubicBezTo>
                    <a:lnTo>
                      <a:pt x="0" y="11199"/>
                    </a:lnTo>
                    <a:lnTo>
                      <a:pt x="4570" y="18543"/>
                    </a:lnTo>
                    <a:lnTo>
                      <a:pt x="4591" y="18388"/>
                    </a:lnTo>
                    <a:cubicBezTo>
                      <a:pt x="5320" y="13992"/>
                      <a:pt x="7505" y="10800"/>
                      <a:pt x="10088" y="10800"/>
                    </a:cubicBezTo>
                    <a:cubicBezTo>
                      <a:pt x="13267" y="10800"/>
                      <a:pt x="15844" y="15635"/>
                      <a:pt x="15844" y="21600"/>
                    </a:cubicBezTo>
                    <a:close/>
                  </a:path>
                </a:pathLst>
              </a:custGeom>
              <a:solidFill>
                <a:srgbClr val="7771B2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5" name="Oval 15"/>
              <p:cNvSpPr/>
              <p:nvPr/>
            </p:nvSpPr>
            <p:spPr>
              <a:xfrm rot="18900000">
                <a:off x="1527020" y="103206"/>
                <a:ext cx="214197" cy="933179"/>
              </a:xfrm>
              <a:prstGeom prst="ellipse">
                <a:avLst/>
              </a:prstGeom>
              <a:solidFill>
                <a:srgbClr val="2C28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grpSp>
        <p:nvGrpSpPr>
          <p:cNvPr id="160" name="Group 16"/>
          <p:cNvGrpSpPr/>
          <p:nvPr/>
        </p:nvGrpSpPr>
        <p:grpSpPr>
          <a:xfrm>
            <a:off x="5657787" y="3903771"/>
            <a:ext cx="1656715" cy="1656715"/>
            <a:chOff x="0" y="0"/>
            <a:chExt cx="1656713" cy="1656713"/>
          </a:xfrm>
        </p:grpSpPr>
        <p:sp>
          <p:nvSpPr>
            <p:cNvPr id="158" name="Freeform: Shape 25"/>
            <p:cNvSpPr/>
            <p:nvPr/>
          </p:nvSpPr>
          <p:spPr>
            <a:xfrm rot="8100000">
              <a:off x="288356" y="196883"/>
              <a:ext cx="1080001" cy="1262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3C3867"/>
                </a:gs>
                <a:gs pos="60000">
                  <a:srgbClr val="2C284A"/>
                </a:gs>
                <a:gs pos="100000">
                  <a:srgbClr val="1B192E"/>
                </a:gs>
              </a:gsLst>
              <a:lin ang="6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9" name="Oval 18"/>
            <p:cNvSpPr/>
            <p:nvPr/>
          </p:nvSpPr>
          <p:spPr>
            <a:xfrm rot="13500000">
              <a:off x="302756" y="32756"/>
              <a:ext cx="540001" cy="1080001"/>
            </a:xfrm>
            <a:prstGeom prst="ellipse">
              <a:avLst/>
            </a:prstGeom>
            <a:gradFill flip="none" rotWithShape="1">
              <a:gsLst>
                <a:gs pos="0">
                  <a:srgbClr val="454075">
                    <a:alpha val="33000"/>
                  </a:srgbClr>
                </a:gs>
                <a:gs pos="100000">
                  <a:srgbClr val="5BEFC1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550862" y="196899"/>
            <a:ext cx="4159162" cy="3155901"/>
          </a:xfrm>
          <a:prstGeom prst="rect">
            <a:avLst/>
          </a:prstGeom>
        </p:spPr>
        <p:txBody>
          <a:bodyPr anchor="b"/>
          <a:lstStyle>
            <a:lvl1pPr>
              <a:defRPr sz="4000"/>
            </a:lvl1pPr>
          </a:lstStyle>
          <a:p>
            <a:r>
              <a:t>Click to add title</a:t>
            </a:r>
          </a:p>
        </p:txBody>
      </p:sp>
      <p:sp>
        <p:nvSpPr>
          <p:cNvPr id="17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47271" y="3505200"/>
            <a:ext cx="4159161" cy="235235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>
                <a:solidFill>
                  <a:srgbClr val="FFFFFF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>
                <a:solidFill>
                  <a:srgbClr val="FFFFFF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>
                <a:solidFill>
                  <a:srgbClr val="FFFFFF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>
                <a:solidFill>
                  <a:srgbClr val="FFFFFF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r>
              <a:t>Click to add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0" name="Oval 13"/>
          <p:cNvSpPr/>
          <p:nvPr/>
        </p:nvSpPr>
        <p:spPr>
          <a:xfrm>
            <a:off x="5668779" y="5059009"/>
            <a:ext cx="1080001" cy="1080001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84" name="Group 9"/>
          <p:cNvGrpSpPr/>
          <p:nvPr/>
        </p:nvGrpSpPr>
        <p:grpSpPr>
          <a:xfrm>
            <a:off x="10708081" y="4012605"/>
            <a:ext cx="897878" cy="934083"/>
            <a:chOff x="0" y="0"/>
            <a:chExt cx="897876" cy="934082"/>
          </a:xfrm>
        </p:grpSpPr>
        <p:sp>
          <p:nvSpPr>
            <p:cNvPr id="181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2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3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5" name="Picture Placeholder 14"/>
          <p:cNvSpPr>
            <a:spLocks noGrp="1"/>
          </p:cNvSpPr>
          <p:nvPr>
            <p:ph type="pic" sz="half" idx="21"/>
          </p:nvPr>
        </p:nvSpPr>
        <p:spPr>
          <a:xfrm>
            <a:off x="5678049" y="788713"/>
            <a:ext cx="5132389" cy="513238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6"/>
          <p:cNvGrpSpPr/>
          <p:nvPr/>
        </p:nvGrpSpPr>
        <p:grpSpPr>
          <a:xfrm>
            <a:off x="8925425" y="-229892"/>
            <a:ext cx="3990590" cy="4054324"/>
            <a:chOff x="0" y="0"/>
            <a:chExt cx="3990589" cy="4054323"/>
          </a:xfrm>
        </p:grpSpPr>
        <p:sp>
          <p:nvSpPr>
            <p:cNvPr id="193" name="Freeform: Shape 38"/>
            <p:cNvSpPr/>
            <p:nvPr/>
          </p:nvSpPr>
          <p:spPr>
            <a:xfrm rot="18900000" flipH="1">
              <a:off x="137593" y="978773"/>
              <a:ext cx="3536331" cy="1853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9671"/>
                    <a:pt x="16530" y="0"/>
                    <a:pt x="10276" y="0"/>
                  </a:cubicBezTo>
                  <a:cubicBezTo>
                    <a:pt x="5976" y="0"/>
                    <a:pt x="2236" y="4571"/>
                    <a:pt x="319" y="11304"/>
                  </a:cubicBezTo>
                  <a:lnTo>
                    <a:pt x="0" y="12566"/>
                  </a:lnTo>
                  <a:lnTo>
                    <a:pt x="4625" y="21388"/>
                  </a:lnTo>
                  <a:lnTo>
                    <a:pt x="4729" y="19423"/>
                  </a:lnTo>
                  <a:cubicBezTo>
                    <a:pt x="5257" y="14502"/>
                    <a:pt x="7540" y="10800"/>
                    <a:pt x="10276" y="10800"/>
                  </a:cubicBezTo>
                  <a:cubicBezTo>
                    <a:pt x="13403" y="10800"/>
                    <a:pt x="15938" y="15635"/>
                    <a:pt x="15938" y="21600"/>
                  </a:cubicBezTo>
                  <a:close/>
                </a:path>
              </a:pathLst>
            </a:custGeom>
            <a:gradFill flip="none" rotWithShape="1">
              <a:gsLst>
                <a:gs pos="31000">
                  <a:srgbClr val="2C284A"/>
                </a:gs>
                <a:gs pos="97000">
                  <a:srgbClr val="1B192E"/>
                </a:gs>
              </a:gsLst>
              <a:lin ang="15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96" name="Group 8"/>
            <p:cNvGrpSpPr/>
            <p:nvPr/>
          </p:nvGrpSpPr>
          <p:grpSpPr>
            <a:xfrm>
              <a:off x="0" y="63735"/>
              <a:ext cx="3990590" cy="3990589"/>
              <a:chOff x="0" y="0"/>
              <a:chExt cx="3990588" cy="3990588"/>
            </a:xfrm>
          </p:grpSpPr>
          <p:sp>
            <p:nvSpPr>
              <p:cNvPr id="194" name="Freeform: Shape 32"/>
              <p:cNvSpPr/>
              <p:nvPr/>
            </p:nvSpPr>
            <p:spPr>
              <a:xfrm rot="18900000" flipH="1">
                <a:off x="255943" y="912872"/>
                <a:ext cx="3478703" cy="2164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600" y="9671"/>
                      <a:pt x="16446" y="0"/>
                      <a:pt x="10088" y="0"/>
                    </a:cubicBezTo>
                    <a:cubicBezTo>
                      <a:pt x="6115" y="0"/>
                      <a:pt x="2611" y="3778"/>
                      <a:pt x="543" y="9523"/>
                    </a:cubicBezTo>
                    <a:lnTo>
                      <a:pt x="0" y="11199"/>
                    </a:lnTo>
                    <a:lnTo>
                      <a:pt x="4570" y="18543"/>
                    </a:lnTo>
                    <a:lnTo>
                      <a:pt x="4591" y="18388"/>
                    </a:lnTo>
                    <a:cubicBezTo>
                      <a:pt x="5320" y="13992"/>
                      <a:pt x="7505" y="10800"/>
                      <a:pt x="10088" y="10800"/>
                    </a:cubicBezTo>
                    <a:cubicBezTo>
                      <a:pt x="13267" y="10800"/>
                      <a:pt x="15844" y="15635"/>
                      <a:pt x="15844" y="21600"/>
                    </a:cubicBezTo>
                    <a:close/>
                  </a:path>
                </a:pathLst>
              </a:custGeom>
              <a:solidFill>
                <a:srgbClr val="7771B2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5" name="Oval 10"/>
              <p:cNvSpPr/>
              <p:nvPr/>
            </p:nvSpPr>
            <p:spPr>
              <a:xfrm rot="13500000" flipH="1">
                <a:off x="1527020" y="2954203"/>
                <a:ext cx="214197" cy="933179"/>
              </a:xfrm>
              <a:prstGeom prst="ellipse">
                <a:avLst/>
              </a:prstGeom>
              <a:solidFill>
                <a:srgbClr val="2C284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grpSp>
        <p:nvGrpSpPr>
          <p:cNvPr id="200" name="Group 18"/>
          <p:cNvGrpSpPr/>
          <p:nvPr/>
        </p:nvGrpSpPr>
        <p:grpSpPr>
          <a:xfrm>
            <a:off x="8690354" y="4892074"/>
            <a:ext cx="1656715" cy="1656715"/>
            <a:chOff x="0" y="0"/>
            <a:chExt cx="1656713" cy="1656713"/>
          </a:xfrm>
        </p:grpSpPr>
        <p:sp>
          <p:nvSpPr>
            <p:cNvPr id="198" name="Freeform: Shape 25"/>
            <p:cNvSpPr/>
            <p:nvPr/>
          </p:nvSpPr>
          <p:spPr>
            <a:xfrm rot="8100000">
              <a:off x="288356" y="196883"/>
              <a:ext cx="1080001" cy="1262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3C3867"/>
                </a:gs>
                <a:gs pos="60000">
                  <a:srgbClr val="2C284A"/>
                </a:gs>
                <a:gs pos="100000">
                  <a:srgbClr val="1B192E"/>
                </a:gs>
              </a:gsLst>
              <a:lin ang="6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9" name="Oval 20"/>
            <p:cNvSpPr/>
            <p:nvPr/>
          </p:nvSpPr>
          <p:spPr>
            <a:xfrm rot="13500000">
              <a:off x="302756" y="32756"/>
              <a:ext cx="540001" cy="1080001"/>
            </a:xfrm>
            <a:prstGeom prst="ellipse">
              <a:avLst/>
            </a:prstGeom>
            <a:gradFill flip="none" rotWithShape="1">
              <a:gsLst>
                <a:gs pos="0">
                  <a:srgbClr val="454075">
                    <a:alpha val="33000"/>
                  </a:srgbClr>
                </a:gs>
                <a:gs pos="100000">
                  <a:srgbClr val="5BEFC1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205" name="Group 11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201" name="Freeform: Shape 12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2" name="Oval 13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3" name="Oval 14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4" name="Freeform: Shape 15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06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550862" y="498473"/>
            <a:ext cx="7960422" cy="1450218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Click to add title</a:t>
            </a:r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81343" y="2103039"/>
            <a:ext cx="7929941" cy="39796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  <a:lvl2pPr>
              <a:defRPr sz="1800">
                <a:solidFill>
                  <a:srgbClr val="FFFFFF"/>
                </a:solidFill>
              </a:defRPr>
            </a:lvl2pPr>
            <a:lvl3pPr>
              <a:defRPr sz="1800">
                <a:solidFill>
                  <a:srgbClr val="FFFFFF"/>
                </a:solidFill>
              </a:defRPr>
            </a:lvl3pPr>
            <a:lvl4pPr>
              <a:defRPr sz="1800">
                <a:solidFill>
                  <a:srgbClr val="FFFFFF"/>
                </a:solidFill>
              </a:defRPr>
            </a:lvl4pPr>
            <a:lvl5pPr>
              <a:defRPr sz="1800">
                <a:solidFill>
                  <a:srgbClr val="FFFFFF"/>
                </a:solidFill>
              </a:defRPr>
            </a:lvl5pPr>
          </a:lstStyle>
          <a:p>
            <a:r>
              <a:t>Click to add content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00973" y="196899"/>
            <a:ext cx="4899630" cy="2331492"/>
          </a:xfrm>
          <a:prstGeom prst="rect">
            <a:avLst/>
          </a:prstGeom>
        </p:spPr>
        <p:txBody>
          <a:bodyPr anchor="b"/>
          <a:lstStyle>
            <a:lvl1pPr algn="r">
              <a:defRPr sz="4000"/>
            </a:lvl1pPr>
          </a:lstStyle>
          <a:p>
            <a:r>
              <a:t>Click to add title</a:t>
            </a:r>
          </a:p>
        </p:txBody>
      </p:sp>
      <p:sp>
        <p:nvSpPr>
          <p:cNvPr id="2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83161" y="2827209"/>
            <a:ext cx="4917442" cy="3442145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algn="r">
              <a:buFontTx/>
              <a:defRPr sz="1800">
                <a:solidFill>
                  <a:srgbClr val="FFFFFF"/>
                </a:solidFill>
              </a:defRPr>
            </a:lvl2pPr>
            <a:lvl3pPr algn="r">
              <a:buFontTx/>
              <a:defRPr sz="1800">
                <a:solidFill>
                  <a:srgbClr val="FFFFFF"/>
                </a:solidFill>
              </a:defRPr>
            </a:lvl3pPr>
            <a:lvl4pPr algn="r">
              <a:buFontTx/>
              <a:defRPr sz="1800">
                <a:solidFill>
                  <a:srgbClr val="FFFFFF"/>
                </a:solidFill>
              </a:defRPr>
            </a:lvl4pPr>
            <a:lvl5pPr algn="r"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Click to add content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17" name="Picture Placeholder 7"/>
          <p:cNvSpPr>
            <a:spLocks noGrp="1"/>
          </p:cNvSpPr>
          <p:nvPr>
            <p:ph type="pic" idx="21"/>
          </p:nvPr>
        </p:nvSpPr>
        <p:spPr>
          <a:xfrm>
            <a:off x="6095588" y="0"/>
            <a:ext cx="6095999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grpSp>
        <p:nvGrpSpPr>
          <p:cNvPr id="221" name="Group 3"/>
          <p:cNvGrpSpPr/>
          <p:nvPr/>
        </p:nvGrpSpPr>
        <p:grpSpPr>
          <a:xfrm>
            <a:off x="4689246" y="551774"/>
            <a:ext cx="897878" cy="934083"/>
            <a:chOff x="0" y="0"/>
            <a:chExt cx="897876" cy="934082"/>
          </a:xfrm>
        </p:grpSpPr>
        <p:sp>
          <p:nvSpPr>
            <p:cNvPr id="218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9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20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22" name="Oval 14"/>
          <p:cNvSpPr/>
          <p:nvPr/>
        </p:nvSpPr>
        <p:spPr>
          <a:xfrm>
            <a:off x="1189377" y="5232629"/>
            <a:ext cx="1080001" cy="1080001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550862" y="550801"/>
            <a:ext cx="11090276" cy="1237361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Click to add title</a:t>
            </a:r>
          </a:p>
        </p:txBody>
      </p:sp>
      <p:sp>
        <p:nvSpPr>
          <p:cNvPr id="23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53719" y="1917064"/>
            <a:ext cx="2921001" cy="429768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>
              <a:buFontTx/>
              <a:defRPr sz="1800">
                <a:solidFill>
                  <a:srgbClr val="FFFFFF"/>
                </a:solidFill>
              </a:defRPr>
            </a:lvl2pPr>
            <a:lvl3pPr>
              <a:buFontTx/>
              <a:defRPr sz="1800">
                <a:solidFill>
                  <a:srgbClr val="FFFFFF"/>
                </a:solidFill>
              </a:defRPr>
            </a:lvl3pPr>
            <a:lvl4pPr>
              <a:buFontTx/>
              <a:defRPr sz="1800">
                <a:solidFill>
                  <a:srgbClr val="FFFFFF"/>
                </a:solidFill>
              </a:defRPr>
            </a:lvl4pPr>
            <a:lvl5pPr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Click to add content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Oval 21"/>
          <p:cNvSpPr/>
          <p:nvPr/>
        </p:nvSpPr>
        <p:spPr>
          <a:xfrm>
            <a:off x="11069863" y="333375"/>
            <a:ext cx="360001" cy="360000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0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550862" y="488315"/>
            <a:ext cx="11090276" cy="1332001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Click to add title</a:t>
            </a:r>
          </a:p>
        </p:txBody>
      </p:sp>
      <p:grpSp>
        <p:nvGrpSpPr>
          <p:cNvPr id="243" name="Group 10"/>
          <p:cNvGrpSpPr/>
          <p:nvPr/>
        </p:nvGrpSpPr>
        <p:grpSpPr>
          <a:xfrm>
            <a:off x="10346504" y="1833151"/>
            <a:ext cx="1656714" cy="1656715"/>
            <a:chOff x="0" y="0"/>
            <a:chExt cx="1656713" cy="1656713"/>
          </a:xfrm>
        </p:grpSpPr>
        <p:sp>
          <p:nvSpPr>
            <p:cNvPr id="241" name="Freeform: Shape 25"/>
            <p:cNvSpPr/>
            <p:nvPr/>
          </p:nvSpPr>
          <p:spPr>
            <a:xfrm rot="8100000">
              <a:off x="288356" y="196883"/>
              <a:ext cx="1080001" cy="1262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3C3867"/>
                </a:gs>
                <a:gs pos="60000">
                  <a:srgbClr val="2C284A"/>
                </a:gs>
                <a:gs pos="100000">
                  <a:srgbClr val="1B192E"/>
                </a:gs>
              </a:gsLst>
              <a:lin ang="6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2" name="Oval 13"/>
            <p:cNvSpPr/>
            <p:nvPr/>
          </p:nvSpPr>
          <p:spPr>
            <a:xfrm rot="13500000">
              <a:off x="302756" y="32756"/>
              <a:ext cx="540001" cy="1080001"/>
            </a:xfrm>
            <a:prstGeom prst="ellipse">
              <a:avLst/>
            </a:prstGeom>
            <a:gradFill flip="none" rotWithShape="1">
              <a:gsLst>
                <a:gs pos="0">
                  <a:srgbClr val="454075">
                    <a:alpha val="33000"/>
                  </a:srgbClr>
                </a:gs>
                <a:gs pos="100000">
                  <a:srgbClr val="5BEFC1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44" name="Freeform: Shape 21"/>
          <p:cNvSpPr/>
          <p:nvPr/>
        </p:nvSpPr>
        <p:spPr>
          <a:xfrm>
            <a:off x="4295775" y="-1"/>
            <a:ext cx="360001" cy="274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lnTo>
                  <a:pt x="19757" y="0"/>
                </a:lnTo>
                <a:lnTo>
                  <a:pt x="20751" y="1933"/>
                </a:lnTo>
                <a:cubicBezTo>
                  <a:pt x="21298" y="3626"/>
                  <a:pt x="21600" y="5489"/>
                  <a:pt x="21600" y="7443"/>
                </a:cubicBezTo>
                <a:cubicBezTo>
                  <a:pt x="21600" y="15262"/>
                  <a:pt x="16765" y="21600"/>
                  <a:pt x="10800" y="21600"/>
                </a:cubicBezTo>
                <a:cubicBezTo>
                  <a:pt x="4835" y="21600"/>
                  <a:pt x="0" y="15262"/>
                  <a:pt x="0" y="7443"/>
                </a:cubicBezTo>
                <a:cubicBezTo>
                  <a:pt x="0" y="5489"/>
                  <a:pt x="302" y="3626"/>
                  <a:pt x="849" y="1933"/>
                </a:cubicBezTo>
                <a:close/>
              </a:path>
            </a:pathLst>
          </a:cu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47" name="Group 12"/>
          <p:cNvGrpSpPr/>
          <p:nvPr/>
        </p:nvGrpSpPr>
        <p:grpSpPr>
          <a:xfrm>
            <a:off x="233344" y="5384019"/>
            <a:ext cx="828358" cy="828358"/>
            <a:chOff x="0" y="0"/>
            <a:chExt cx="828357" cy="828357"/>
          </a:xfrm>
        </p:grpSpPr>
        <p:sp>
          <p:nvSpPr>
            <p:cNvPr id="245" name="Freeform: Shape 19"/>
            <p:cNvSpPr/>
            <p:nvPr/>
          </p:nvSpPr>
          <p:spPr>
            <a:xfrm rot="2700000">
              <a:off x="144178" y="98441"/>
              <a:ext cx="540001" cy="631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454075"/>
                </a:gs>
                <a:gs pos="60000">
                  <a:srgbClr val="2C284A"/>
                </a:gs>
                <a:gs pos="100000">
                  <a:srgbClr val="1B192E"/>
                </a:gs>
              </a:gsLst>
              <a:lin ang="6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6" name="Oval 20"/>
            <p:cNvSpPr/>
            <p:nvPr/>
          </p:nvSpPr>
          <p:spPr>
            <a:xfrm rot="8100000">
              <a:off x="151378" y="271978"/>
              <a:ext cx="270001" cy="540001"/>
            </a:xfrm>
            <a:prstGeom prst="ellipse">
              <a:avLst/>
            </a:prstGeom>
            <a:gradFill flip="none" rotWithShape="1">
              <a:gsLst>
                <a:gs pos="50000">
                  <a:srgbClr val="23213C"/>
                </a:gs>
                <a:gs pos="100000">
                  <a:srgbClr val="2C284A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4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50862" y="1965094"/>
            <a:ext cx="5435601" cy="399565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85800" indent="-228600">
              <a:buFontTx/>
              <a:defRPr sz="1800">
                <a:solidFill>
                  <a:srgbClr val="FFFFFF"/>
                </a:solidFill>
              </a:defRPr>
            </a:lvl2pPr>
            <a:lvl3pPr marL="1143000" indent="-228600">
              <a:buFontTx/>
              <a:defRPr sz="1800">
                <a:solidFill>
                  <a:srgbClr val="FFFFFF"/>
                </a:solidFill>
              </a:defRPr>
            </a:lvl3pPr>
            <a:lvl4pPr marL="1600200" indent="-228600">
              <a:buFontTx/>
              <a:defRPr sz="1800">
                <a:solidFill>
                  <a:srgbClr val="FFFFFF"/>
                </a:solidFill>
              </a:defRPr>
            </a:lvl4pPr>
            <a:lvl5pPr marL="2057400" indent="-228600"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Click to add content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87174" y="6507956"/>
            <a:ext cx="153964" cy="152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000"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FFFFFF"/>
          </a:solidFill>
          <a:uFillTx/>
          <a:latin typeface="Walbaum Display"/>
          <a:ea typeface="Walbaum Display"/>
          <a:cs typeface="Walbaum Display"/>
          <a:sym typeface="Walbaum Display"/>
        </a:defRPr>
      </a:lvl9pPr>
    </p:titleStyle>
    <p:bodyStyle>
      <a:lvl1pPr marL="228600" marR="0" indent="-228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1pPr>
      <a:lvl2pPr marL="800100" marR="0" indent="-3429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2pPr>
      <a:lvl3pPr marL="1257300" marR="0" indent="-3429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3pPr>
      <a:lvl4pPr marL="1714500" marR="0" indent="-3429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4pPr>
      <a:lvl5pPr marL="2171700" marR="0" indent="-3429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5pPr>
      <a:lvl6pPr marL="25908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6pPr>
      <a:lvl7pPr marL="30480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7pPr>
      <a:lvl8pPr marL="35052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8pPr>
      <a:lvl9pPr marL="39624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FFFFFF">
              <a:alpha val="60000"/>
            </a:srgbClr>
          </a:solidFill>
          <a:uFillTx/>
          <a:latin typeface="Gill Sans MT"/>
          <a:ea typeface="Gill Sans MT"/>
          <a:cs typeface="Gill Sans MT"/>
          <a:sym typeface="Gill Sans M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archive.ics.uci.edu/dataset/332/online+news+popularity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3"/>
          <p:cNvSpPr txBox="1">
            <a:spLocks noGrp="1"/>
          </p:cNvSpPr>
          <p:nvPr>
            <p:ph type="title"/>
          </p:nvPr>
        </p:nvSpPr>
        <p:spPr>
          <a:xfrm>
            <a:off x="6734286" y="662937"/>
            <a:ext cx="5228218" cy="554202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59536">
              <a:defRPr sz="4136"/>
            </a:pPr>
            <a:r>
              <a:rPr lang="en-IN" dirty="0"/>
              <a:t>Smart Invoice AI – Automated Text Detection System</a:t>
            </a:r>
            <a:br>
              <a:rPr dirty="0"/>
            </a:br>
            <a:br>
              <a:rPr dirty="0"/>
            </a:br>
            <a:r>
              <a:rPr sz="1879" dirty="0"/>
              <a:t>University of San Diego</a:t>
            </a:r>
            <a:br>
              <a:rPr sz="1879" dirty="0"/>
            </a:br>
            <a:br>
              <a:rPr sz="1879" dirty="0"/>
            </a:br>
            <a:r>
              <a:rPr lang="en-US" sz="1879" dirty="0"/>
              <a:t>Applied Computer Vision for AI </a:t>
            </a:r>
            <a:r>
              <a:rPr sz="1879" dirty="0"/>
              <a:t>(AAI-5</a:t>
            </a:r>
            <a:r>
              <a:rPr lang="en-US" sz="1879" dirty="0"/>
              <a:t>2</a:t>
            </a:r>
            <a:r>
              <a:rPr sz="1879" dirty="0"/>
              <a:t>1-IN2)</a:t>
            </a:r>
            <a:br>
              <a:rPr sz="1879" dirty="0"/>
            </a:br>
            <a:br>
              <a:rPr sz="1879" dirty="0"/>
            </a:br>
            <a:r>
              <a:rPr sz="1879" dirty="0"/>
              <a:t>Group 5: </a:t>
            </a:r>
            <a:br>
              <a:rPr lang="en-US" sz="1879" dirty="0"/>
            </a:br>
            <a:br>
              <a:rPr sz="1879" dirty="0"/>
            </a:br>
            <a:r>
              <a:rPr lang="en-IN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+mn-lt"/>
                <a:ea typeface="Gill Sans MT"/>
                <a:cs typeface="Gill Sans MT"/>
                <a:sym typeface="Gill Sans MT"/>
              </a:rPr>
              <a:t>Anusha S. L. Bandaru</a:t>
            </a:r>
            <a:r>
              <a:rPr lang="en-US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+mn-lt"/>
              </a:rPr>
              <a:t>,</a:t>
            </a:r>
            <a:r>
              <a:rPr lang="en-IN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+mn-lt"/>
                <a:ea typeface="Gill Sans MT"/>
                <a:cs typeface="Gill Sans MT"/>
                <a:sym typeface="Gill Sans MT"/>
              </a:rPr>
              <a:t> Rakesh R. </a:t>
            </a:r>
            <a:r>
              <a:rPr lang="en-IN" sz="1800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+mn-lt"/>
                <a:ea typeface="Gill Sans MT"/>
                <a:cs typeface="Gill Sans MT"/>
                <a:sym typeface="Gill Sans MT"/>
              </a:rPr>
              <a:t>Bhatija</a:t>
            </a:r>
            <a:r>
              <a:rPr lang="en-IN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+mn-lt"/>
                <a:ea typeface="Gill Sans MT"/>
                <a:cs typeface="Gill Sans MT"/>
                <a:sym typeface="Gill Sans MT"/>
              </a:rPr>
              <a:t>, </a:t>
            </a:r>
            <a:r>
              <a:rPr lang="en-IN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+mn-lt"/>
              </a:rPr>
              <a:t>Nikhil Bembi</a:t>
            </a:r>
            <a:br>
              <a:rPr lang="en-IN" sz="2000" b="1" dirty="0"/>
            </a:br>
            <a:br>
              <a:rPr sz="1879" dirty="0"/>
            </a:br>
            <a:br>
              <a:rPr sz="1879" dirty="0"/>
            </a:br>
            <a:endParaRPr sz="1879" dirty="0"/>
          </a:p>
        </p:txBody>
      </p:sp>
      <p:pic>
        <p:nvPicPr>
          <p:cNvPr id="259" name="Picture Placeholder 13" descr="Picture Placeholder 13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7936" r="7936"/>
          <a:stretch>
            <a:fillRect/>
          </a:stretch>
        </p:blipFill>
        <p:spPr>
          <a:xfrm>
            <a:off x="-1" y="0"/>
            <a:ext cx="6267452" cy="6858000"/>
          </a:xfrm>
          <a:prstGeom prst="rect">
            <a:avLst/>
          </a:prstGeom>
        </p:spPr>
      </p:pic>
      <p:pic>
        <p:nvPicPr>
          <p:cNvPr id="260" name="Picture 11" descr="Picture 11"/>
          <p:cNvPicPr>
            <a:picLocks noChangeAspect="1"/>
          </p:cNvPicPr>
          <p:nvPr/>
        </p:nvPicPr>
        <p:blipFill>
          <a:blip r:embed="rId3"/>
          <a:srcRect l="8411" t="7261"/>
          <a:stretch>
            <a:fillRect/>
          </a:stretch>
        </p:blipFill>
        <p:spPr>
          <a:xfrm>
            <a:off x="0" y="0"/>
            <a:ext cx="1776964" cy="12999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itle 2"/>
          <p:cNvSpPr txBox="1">
            <a:spLocks noGrp="1"/>
          </p:cNvSpPr>
          <p:nvPr>
            <p:ph type="title"/>
          </p:nvPr>
        </p:nvSpPr>
        <p:spPr>
          <a:xfrm>
            <a:off x="550861" y="549275"/>
            <a:ext cx="11091602" cy="1332000"/>
          </a:xfrm>
          <a:prstGeom prst="rect">
            <a:avLst/>
          </a:prstGeom>
        </p:spPr>
        <p:txBody>
          <a:bodyPr/>
          <a:lstStyle/>
          <a:p>
            <a:r>
              <a:t>Project Team</a:t>
            </a:r>
          </a:p>
        </p:txBody>
      </p:sp>
      <p:graphicFrame>
        <p:nvGraphicFramePr>
          <p:cNvPr id="263" name="Content Placeholder 7"/>
          <p:cNvGraphicFramePr/>
          <p:nvPr>
            <p:extLst>
              <p:ext uri="{D42A27DB-BD31-4B8C-83A1-F6EECF244321}">
                <p14:modId xmlns:p14="http://schemas.microsoft.com/office/powerpoint/2010/main" val="2529352164"/>
              </p:ext>
            </p:extLst>
          </p:nvPr>
        </p:nvGraphicFramePr>
        <p:xfrm>
          <a:off x="1292694" y="2808949"/>
          <a:ext cx="9478773" cy="777574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3159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787">
                <a:tc>
                  <a:txBody>
                    <a:bodyPr/>
                    <a:lstStyle/>
                    <a:p>
                      <a:pPr algn="l">
                        <a:defRPr sz="1800" b="0"/>
                      </a:pPr>
                      <a:r>
                        <a:rPr lang="en-IN" sz="18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Anusha S. L. Bandaru</a:t>
                      </a:r>
                      <a:r>
                        <a:rPr lang="en-IN" b="1" dirty="0">
                          <a:effectLst/>
                        </a:rPr>
                        <a:t> </a:t>
                      </a:r>
                      <a:endParaRPr lang="en-IN" b="1" dirty="0"/>
                    </a:p>
                  </a:txBody>
                  <a:tcPr marL="45720" marR="45720" horzOverflow="overflow">
                    <a:lnL w="6350">
                      <a:solidFill>
                        <a:schemeClr val="accent2"/>
                      </a:solidFill>
                      <a:miter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/>
                      </a:pPr>
                      <a:r>
                        <a:rPr lang="en-IN" sz="18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Rakesh R. </a:t>
                      </a:r>
                      <a:r>
                        <a:rPr lang="en-IN" sz="1800" b="1" i="0" u="none" strike="noStrike" cap="none" spc="0" baseline="0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Bhatija</a:t>
                      </a:r>
                      <a:r>
                        <a:rPr lang="en-IN" b="1" dirty="0">
                          <a:effectLst/>
                        </a:rPr>
                        <a:t> </a:t>
                      </a:r>
                      <a:endParaRPr b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/>
                      </a:pPr>
                      <a:r>
                        <a:rPr lang="en-IN" sz="1800" b="1" i="0" u="none" strike="noStrike" cap="none" spc="0" baseline="0" dirty="0">
                          <a:solidFill>
                            <a:srgbClr val="000000"/>
                          </a:solidFill>
                          <a:effectLst/>
                          <a:uFillTx/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Nikhil Bembi</a:t>
                      </a:r>
                      <a:endParaRPr b="1" dirty="0"/>
                    </a:p>
                  </a:txBody>
                  <a:tcPr marL="45720" marR="45720" horzOverflow="overflow">
                    <a:lnR w="6350">
                      <a:solidFill>
                        <a:schemeClr val="accent2"/>
                      </a:solidFill>
                      <a:miter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8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Team </a:t>
                      </a:r>
                      <a:r>
                        <a:rPr lang="en-IN" dirty="0">
                          <a:solidFill>
                            <a:srgbClr val="FFFFFF"/>
                          </a:solidFill>
                        </a:rPr>
                        <a:t>Lead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horzOverflow="overflow">
                    <a:lnL w="6350">
                      <a:solidFill>
                        <a:schemeClr val="accent2"/>
                      </a:solidFill>
                      <a:miter/>
                    </a:lnL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Team Member</a:t>
                      </a:r>
                    </a:p>
                  </a:txBody>
                  <a:tcPr marL="45720" marR="45720" horzOverflow="overflow"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Team </a:t>
                      </a:r>
                      <a:r>
                        <a:rPr lang="en-IN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horzOverflow="overflow">
                    <a:lnR w="6350">
                      <a:solidFill>
                        <a:schemeClr val="accent2"/>
                      </a:solidFill>
                      <a:miter/>
                    </a:lnR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67" name="Picture 9" descr="Picture 9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10653310" y="0"/>
            <a:ext cx="1538691" cy="1125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3"/>
          <p:cNvGrpSpPr/>
          <p:nvPr/>
        </p:nvGrpSpPr>
        <p:grpSpPr>
          <a:xfrm>
            <a:off x="4689246" y="551774"/>
            <a:ext cx="897878" cy="934083"/>
            <a:chOff x="0" y="0"/>
            <a:chExt cx="897876" cy="934082"/>
          </a:xfrm>
        </p:grpSpPr>
        <p:sp>
          <p:nvSpPr>
            <p:cNvPr id="269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0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1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73" name="Title 1"/>
          <p:cNvSpPr txBox="1">
            <a:spLocks noGrp="1"/>
          </p:cNvSpPr>
          <p:nvPr>
            <p:ph type="title"/>
          </p:nvPr>
        </p:nvSpPr>
        <p:spPr>
          <a:xfrm>
            <a:off x="600973" y="1719941"/>
            <a:ext cx="4899630" cy="808448"/>
          </a:xfrm>
          <a:prstGeom prst="rect">
            <a:avLst/>
          </a:prstGeom>
        </p:spPr>
        <p:txBody>
          <a:bodyPr/>
          <a:lstStyle/>
          <a:p>
            <a:r>
              <a:t>Dataset Selection</a:t>
            </a:r>
          </a:p>
        </p:txBody>
      </p:sp>
      <p:sp>
        <p:nvSpPr>
          <p:cNvPr id="27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182879" y="2827208"/>
            <a:ext cx="5604736" cy="3442146"/>
          </a:xfrm>
          <a:prstGeom prst="rect">
            <a:avLst/>
          </a:prstGeom>
        </p:spPr>
        <p:txBody>
          <a:bodyPr lIns="45719" tIns="45719" rIns="45719" bIns="45719">
            <a:normAutofit/>
          </a:bodyPr>
          <a:lstStyle/>
          <a:p>
            <a:pPr algn="l"/>
            <a:r>
              <a:rPr dirty="0"/>
              <a:t>We chose the </a:t>
            </a:r>
            <a:r>
              <a:rPr lang="en-US" dirty="0">
                <a:solidFill>
                  <a:srgbClr val="91EDF5"/>
                </a:solidFill>
              </a:rPr>
              <a:t>Invoices-and-Receipts </a:t>
            </a:r>
            <a:r>
              <a:rPr dirty="0"/>
              <a:t>dataset</a:t>
            </a:r>
            <a:r>
              <a:rPr lang="en-US" dirty="0"/>
              <a:t> from hugging face</a:t>
            </a:r>
            <a:r>
              <a:rPr dirty="0"/>
              <a:t>. </a:t>
            </a:r>
          </a:p>
          <a:p>
            <a:pPr algn="l"/>
            <a:r>
              <a:rPr lang="en-US" dirty="0"/>
              <a:t>This is a public dataset which belongs to the general “Receipts &amp; Invoices” collection. This dataset is meant </a:t>
            </a:r>
            <a:r>
              <a:rPr lang="en-US" dirty="0" err="1"/>
              <a:t>fro</a:t>
            </a:r>
            <a:r>
              <a:rPr lang="en-US" dirty="0"/>
              <a:t> OCT extraction tasks: to extract text from invoices/receipt images.</a:t>
            </a:r>
            <a:endParaRPr dirty="0"/>
          </a:p>
          <a:p>
            <a:endParaRPr dirty="0"/>
          </a:p>
          <a:p>
            <a:pPr algn="l">
              <a:defRPr sz="1400"/>
            </a:pPr>
            <a:r>
              <a:rPr dirty="0"/>
              <a:t>Dataset: </a:t>
            </a:r>
            <a:r>
              <a:rPr lang="en-IN" sz="1400" u="sng" dirty="0">
                <a:solidFill>
                  <a:srgbClr val="0070C0"/>
                </a:solidFill>
              </a:rPr>
              <a:t>https://huggingface.co/datasets/mychen76/invoices-and-receipts_ocr_v1</a:t>
            </a:r>
            <a:endParaRPr u="sng" dirty="0">
              <a:solidFill>
                <a:srgbClr val="0066FF"/>
              </a:solidFill>
              <a:uFill>
                <a:solidFill>
                  <a:srgbClr val="0066FF"/>
                </a:solidFill>
              </a:uFill>
              <a:hlinkClick r:id="rId2"/>
            </a:endParaRPr>
          </a:p>
          <a:p>
            <a:pPr algn="l">
              <a:defRPr sz="1400"/>
            </a:pPr>
            <a:r>
              <a:rPr dirty="0"/>
              <a:t>GitHub: </a:t>
            </a:r>
            <a:r>
              <a:rPr lang="en-IN" u="sng" dirty="0">
                <a:solidFill>
                  <a:srgbClr val="0070C0"/>
                </a:solidFill>
                <a:uFill>
                  <a:solidFill>
                    <a:srgbClr val="0066FF"/>
                  </a:solidFill>
                </a:uFill>
              </a:rPr>
              <a:t>https://github.com/rbhatija</a:t>
            </a:r>
            <a:endParaRPr dirty="0"/>
          </a:p>
        </p:txBody>
      </p:sp>
      <p:pic>
        <p:nvPicPr>
          <p:cNvPr id="275" name="Picture Placeholder 19" descr="Picture Placeholder 19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l="9" r="9"/>
          <a:stretch>
            <a:fillRect/>
          </a:stretch>
        </p:blipFill>
        <p:spPr>
          <a:xfrm>
            <a:off x="6095587" y="0"/>
            <a:ext cx="6096000" cy="6858000"/>
          </a:xfrm>
          <a:prstGeom prst="rect">
            <a:avLst/>
          </a:prstGeom>
        </p:spPr>
      </p:pic>
      <p:pic>
        <p:nvPicPr>
          <p:cNvPr id="276" name="Picture 13" descr="Picture 13"/>
          <p:cNvPicPr>
            <a:picLocks noChangeAspect="1"/>
          </p:cNvPicPr>
          <p:nvPr/>
        </p:nvPicPr>
        <p:blipFill>
          <a:blip r:embed="rId4"/>
          <a:srcRect l="8411" t="7261"/>
          <a:stretch>
            <a:fillRect/>
          </a:stretch>
        </p:blipFill>
        <p:spPr>
          <a:xfrm>
            <a:off x="-1" y="0"/>
            <a:ext cx="1538691" cy="1125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roup 9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278" name="Freeform: Shape 10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9" name="Oval 11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0" name="Oval 12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1" name="Freeform: Shape 13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83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4" name="Title 1"/>
          <p:cNvSpPr txBox="1">
            <a:spLocks noGrp="1"/>
          </p:cNvSpPr>
          <p:nvPr>
            <p:ph type="title"/>
          </p:nvPr>
        </p:nvSpPr>
        <p:spPr>
          <a:xfrm>
            <a:off x="876260" y="2492829"/>
            <a:ext cx="2714852" cy="1422854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Agenda</a:t>
            </a:r>
          </a:p>
        </p:txBody>
      </p:sp>
      <p:sp>
        <p:nvSpPr>
          <p:cNvPr id="285" name="Rectangle 17"/>
          <p:cNvSpPr/>
          <p:nvPr/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rgbClr val="E4E3F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286" name="Picture 3" descr="Picture 3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5500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1" name="Content Placeholder 2"/>
          <p:cNvGrpSpPr/>
          <p:nvPr/>
        </p:nvGrpSpPr>
        <p:grpSpPr>
          <a:xfrm>
            <a:off x="5268613" y="1563388"/>
            <a:ext cx="6371236" cy="3383920"/>
            <a:chOff x="0" y="0"/>
            <a:chExt cx="6371234" cy="3383918"/>
          </a:xfrm>
        </p:grpSpPr>
        <p:sp>
          <p:nvSpPr>
            <p:cNvPr id="287" name="Circle"/>
            <p:cNvSpPr/>
            <p:nvPr/>
          </p:nvSpPr>
          <p:spPr>
            <a:xfrm>
              <a:off x="274560" y="0"/>
              <a:ext cx="858886" cy="85888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8" name="Square"/>
            <p:cNvSpPr/>
            <p:nvPr/>
          </p:nvSpPr>
          <p:spPr>
            <a:xfrm>
              <a:off x="457601" y="183041"/>
              <a:ext cx="492803" cy="492803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sp>
          <p:nvSpPr>
            <p:cNvPr id="289" name="Introduction"/>
            <p:cNvSpPr txBox="1"/>
            <p:nvPr/>
          </p:nvSpPr>
          <p:spPr>
            <a:xfrm>
              <a:off x="0" y="1126405"/>
              <a:ext cx="1408007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t>Introduction </a:t>
              </a:r>
            </a:p>
          </p:txBody>
        </p:sp>
        <p:sp>
          <p:nvSpPr>
            <p:cNvPr id="290" name="Circle"/>
            <p:cNvSpPr/>
            <p:nvPr/>
          </p:nvSpPr>
          <p:spPr>
            <a:xfrm>
              <a:off x="1928971" y="0"/>
              <a:ext cx="858885" cy="858885"/>
            </a:xfrm>
            <a:prstGeom prst="ellipse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1" name="Square"/>
            <p:cNvSpPr/>
            <p:nvPr/>
          </p:nvSpPr>
          <p:spPr>
            <a:xfrm>
              <a:off x="2112012" y="183041"/>
              <a:ext cx="492803" cy="492803"/>
            </a:xfrm>
            <a:prstGeom prst="rect">
              <a:avLst/>
            </a:prstGeom>
            <a:blipFill rotWithShape="1">
              <a:blip r:embed="rId4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2" name="Problem &amp; Motivation"/>
            <p:cNvSpPr txBox="1"/>
            <p:nvPr/>
          </p:nvSpPr>
          <p:spPr>
            <a:xfrm>
              <a:off x="1654408" y="1126405"/>
              <a:ext cx="1408008" cy="4102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Problem &amp; Motivation </a:t>
              </a:r>
            </a:p>
          </p:txBody>
        </p:sp>
        <p:sp>
          <p:nvSpPr>
            <p:cNvPr id="293" name="Circle"/>
            <p:cNvSpPr/>
            <p:nvPr/>
          </p:nvSpPr>
          <p:spPr>
            <a:xfrm>
              <a:off x="3583380" y="0"/>
              <a:ext cx="858885" cy="858885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4" name="Square"/>
            <p:cNvSpPr/>
            <p:nvPr/>
          </p:nvSpPr>
          <p:spPr>
            <a:xfrm>
              <a:off x="3766420" y="183041"/>
              <a:ext cx="492803" cy="492803"/>
            </a:xfrm>
            <a:prstGeom prst="rect">
              <a:avLst/>
            </a:prstGeom>
            <a:blipFill rotWithShape="1">
              <a:blip r:embed="rId5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5" name="Literature Review"/>
            <p:cNvSpPr txBox="1"/>
            <p:nvPr/>
          </p:nvSpPr>
          <p:spPr>
            <a:xfrm>
              <a:off x="3308817" y="1126405"/>
              <a:ext cx="1408008" cy="5816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rPr lang="en-US" dirty="0"/>
                <a:t>FRAMEWORK &amp; </a:t>
              </a:r>
              <a:r>
                <a:rPr dirty="0"/>
                <a:t>Literature Review</a:t>
              </a:r>
            </a:p>
          </p:txBody>
        </p:sp>
        <p:sp>
          <p:nvSpPr>
            <p:cNvPr id="296" name="Circle"/>
            <p:cNvSpPr/>
            <p:nvPr/>
          </p:nvSpPr>
          <p:spPr>
            <a:xfrm>
              <a:off x="5237788" y="0"/>
              <a:ext cx="858885" cy="858885"/>
            </a:xfrm>
            <a:prstGeom prst="ellipse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7" name="Square"/>
            <p:cNvSpPr/>
            <p:nvPr/>
          </p:nvSpPr>
          <p:spPr>
            <a:xfrm>
              <a:off x="5420830" y="183041"/>
              <a:ext cx="492803" cy="492803"/>
            </a:xfrm>
            <a:prstGeom prst="rect">
              <a:avLst/>
            </a:prstGeom>
            <a:blipFill rotWithShape="1">
              <a:blip r:embed="rId6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8" name="Methodology"/>
            <p:cNvSpPr txBox="1"/>
            <p:nvPr/>
          </p:nvSpPr>
          <p:spPr>
            <a:xfrm>
              <a:off x="4963226" y="1126405"/>
              <a:ext cx="1408008" cy="387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Methodology</a:t>
              </a:r>
              <a:r>
                <a:rPr lang="en-US" dirty="0"/>
                <a:t> &amp; Training</a:t>
              </a:r>
              <a:r>
                <a:rPr dirty="0"/>
                <a:t> </a:t>
              </a:r>
            </a:p>
          </p:txBody>
        </p:sp>
        <p:sp>
          <p:nvSpPr>
            <p:cNvPr id="299" name="Circle"/>
            <p:cNvSpPr/>
            <p:nvPr/>
          </p:nvSpPr>
          <p:spPr>
            <a:xfrm>
              <a:off x="274560" y="2041610"/>
              <a:ext cx="858886" cy="858885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0" name="Square"/>
            <p:cNvSpPr/>
            <p:nvPr/>
          </p:nvSpPr>
          <p:spPr>
            <a:xfrm>
              <a:off x="457601" y="2224652"/>
              <a:ext cx="492803" cy="492803"/>
            </a:xfrm>
            <a:prstGeom prst="rect">
              <a:avLst/>
            </a:prstGeom>
            <a:blipFill rotWithShape="1">
              <a:blip r:embed="rId7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1" name="Results"/>
            <p:cNvSpPr txBox="1"/>
            <p:nvPr/>
          </p:nvSpPr>
          <p:spPr>
            <a:xfrm>
              <a:off x="0" y="3168017"/>
              <a:ext cx="1408007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t>Results </a:t>
              </a:r>
            </a:p>
          </p:txBody>
        </p:sp>
        <p:sp>
          <p:nvSpPr>
            <p:cNvPr id="302" name="Circle"/>
            <p:cNvSpPr/>
            <p:nvPr/>
          </p:nvSpPr>
          <p:spPr>
            <a:xfrm>
              <a:off x="1928971" y="2041610"/>
              <a:ext cx="858885" cy="85888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3" name="Square"/>
            <p:cNvSpPr/>
            <p:nvPr/>
          </p:nvSpPr>
          <p:spPr>
            <a:xfrm>
              <a:off x="2112012" y="2224652"/>
              <a:ext cx="492803" cy="492803"/>
            </a:xfrm>
            <a:prstGeom prst="rect">
              <a:avLst/>
            </a:prstGeom>
            <a:blipFill rotWithShape="1">
              <a:blip r:embed="rId8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4" name="Discussion"/>
            <p:cNvSpPr txBox="1"/>
            <p:nvPr/>
          </p:nvSpPr>
          <p:spPr>
            <a:xfrm>
              <a:off x="1654408" y="3168017"/>
              <a:ext cx="1408008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Discussion </a:t>
              </a:r>
            </a:p>
          </p:txBody>
        </p:sp>
        <p:sp>
          <p:nvSpPr>
            <p:cNvPr id="305" name="Circle"/>
            <p:cNvSpPr/>
            <p:nvPr/>
          </p:nvSpPr>
          <p:spPr>
            <a:xfrm>
              <a:off x="3583380" y="2041610"/>
              <a:ext cx="858885" cy="858885"/>
            </a:xfrm>
            <a:prstGeom prst="ellipse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6" name="Square"/>
            <p:cNvSpPr/>
            <p:nvPr/>
          </p:nvSpPr>
          <p:spPr>
            <a:xfrm>
              <a:off x="3766420" y="2224652"/>
              <a:ext cx="492803" cy="492803"/>
            </a:xfrm>
            <a:prstGeom prst="rect">
              <a:avLst/>
            </a:prstGeom>
            <a:blipFill rotWithShape="1">
              <a:blip r:embed="rId9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7" name="Limitations &amp; Future Work"/>
            <p:cNvSpPr txBox="1"/>
            <p:nvPr/>
          </p:nvSpPr>
          <p:spPr>
            <a:xfrm>
              <a:off x="3308817" y="3168017"/>
              <a:ext cx="1408008" cy="193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Future Work </a:t>
              </a:r>
            </a:p>
          </p:txBody>
        </p:sp>
        <p:sp>
          <p:nvSpPr>
            <p:cNvPr id="308" name="Circle"/>
            <p:cNvSpPr/>
            <p:nvPr/>
          </p:nvSpPr>
          <p:spPr>
            <a:xfrm>
              <a:off x="5237788" y="2041610"/>
              <a:ext cx="858885" cy="858885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9" name="Square"/>
            <p:cNvSpPr/>
            <p:nvPr/>
          </p:nvSpPr>
          <p:spPr>
            <a:xfrm>
              <a:off x="5420830" y="2224652"/>
              <a:ext cx="492803" cy="492803"/>
            </a:xfrm>
            <a:prstGeom prst="rect">
              <a:avLst/>
            </a:prstGeom>
            <a:blipFill rotWithShape="1">
              <a:blip r:embed="rId10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0" name="Conclusion"/>
            <p:cNvSpPr txBox="1"/>
            <p:nvPr/>
          </p:nvSpPr>
          <p:spPr>
            <a:xfrm>
              <a:off x="4963226" y="3168017"/>
              <a:ext cx="1408008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 defTabSz="622300">
                <a:lnSpc>
                  <a:spcPct val="90000"/>
                </a:lnSpc>
                <a:spcBef>
                  <a:spcPts val="500"/>
                </a:spcBef>
                <a:defRPr sz="1400" cap="all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Conclusion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 19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316" name="Freeform: Shape 20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7" name="Oval 21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8" name="Oval 22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9" name="Freeform: Shape 23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21" name="Rectangle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2" name="Title 1"/>
          <p:cNvSpPr txBox="1">
            <a:spLocks noGrp="1"/>
          </p:cNvSpPr>
          <p:nvPr>
            <p:ph type="title"/>
          </p:nvPr>
        </p:nvSpPr>
        <p:spPr>
          <a:xfrm>
            <a:off x="550862" y="1520825"/>
            <a:ext cx="4535489" cy="3779838"/>
          </a:xfrm>
          <a:prstGeom prst="rect">
            <a:avLst/>
          </a:prstGeom>
        </p:spPr>
        <p:txBody>
          <a:bodyPr anchor="ctr"/>
          <a:lstStyle>
            <a:lvl1pPr>
              <a:defRPr sz="6400"/>
            </a:lvl1pPr>
          </a:lstStyle>
          <a:p>
            <a:r>
              <a:t>Introduction &amp; Problem Statement</a:t>
            </a:r>
          </a:p>
        </p:txBody>
      </p:sp>
      <p:pic>
        <p:nvPicPr>
          <p:cNvPr id="323" name="Picture 3" descr="Picture 3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-1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9" name="Content Placeholder 2"/>
          <p:cNvGrpSpPr/>
          <p:nvPr/>
        </p:nvGrpSpPr>
        <p:grpSpPr>
          <a:xfrm>
            <a:off x="5267324" y="553773"/>
            <a:ext cx="6373816" cy="5768394"/>
            <a:chOff x="0" y="162613"/>
            <a:chExt cx="6373814" cy="5768391"/>
          </a:xfrm>
        </p:grpSpPr>
        <p:sp>
          <p:nvSpPr>
            <p:cNvPr id="324" name="Rounded Rectangle"/>
            <p:cNvSpPr/>
            <p:nvPr/>
          </p:nvSpPr>
          <p:spPr>
            <a:xfrm>
              <a:off x="0" y="162613"/>
              <a:ext cx="6373813" cy="958408"/>
            </a:xfrm>
            <a:prstGeom prst="roundRect">
              <a:avLst>
                <a:gd name="adj" fmla="val 10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5" name="Square"/>
            <p:cNvSpPr/>
            <p:nvPr/>
          </p:nvSpPr>
          <p:spPr>
            <a:xfrm>
              <a:off x="289918" y="378255"/>
              <a:ext cx="527125" cy="527124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6" name="Background: Online news platforms face intense competition for attention; popularity (measured by shares) drives revenue and engagement."/>
            <p:cNvSpPr txBox="1"/>
            <p:nvPr/>
          </p:nvSpPr>
          <p:spPr>
            <a:xfrm>
              <a:off x="1106961" y="276247"/>
              <a:ext cx="5266853" cy="7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431" tIns="101431" rIns="101431" bIns="101431" numCol="1" anchor="ctr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>
                  <a:solidFill>
                    <a:srgbClr val="FFFFFF"/>
                  </a:solidFill>
                </a:defRPr>
              </a:lvl1pPr>
            </a:lstStyle>
            <a:p>
              <a:r>
                <a:rPr dirty="0">
                  <a:latin typeface="+mn-lt"/>
                </a:rPr>
                <a:t>Background:</a:t>
              </a:r>
              <a:r>
                <a:rPr lang="en-IN" dirty="0">
                  <a:latin typeface="+mn-lt"/>
                </a:rPr>
                <a:t> Detect text regions to automate OCR workflow</a:t>
              </a:r>
              <a:endParaRPr dirty="0">
                <a:latin typeface="+mn-lt"/>
              </a:endParaRPr>
            </a:p>
          </p:txBody>
        </p:sp>
        <p:sp>
          <p:nvSpPr>
            <p:cNvPr id="327" name="Rounded Rectangle"/>
            <p:cNvSpPr/>
            <p:nvPr/>
          </p:nvSpPr>
          <p:spPr>
            <a:xfrm>
              <a:off x="0" y="1360624"/>
              <a:ext cx="6373813" cy="958409"/>
            </a:xfrm>
            <a:prstGeom prst="roundRect">
              <a:avLst>
                <a:gd name="adj" fmla="val 10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8" name="Square"/>
            <p:cNvSpPr/>
            <p:nvPr/>
          </p:nvSpPr>
          <p:spPr>
            <a:xfrm>
              <a:off x="289918" y="1576266"/>
              <a:ext cx="527125" cy="527125"/>
            </a:xfrm>
            <a:prstGeom prst="rect">
              <a:avLst/>
            </a:prstGeom>
            <a:blipFill rotWithShape="1">
              <a:blip r:embed="rId4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9" name="Dataset: &quot;Online News Popularity&quot; from UCI (39,797 Mashable articles, 2013-2014; 58 features like word counts, sentiment, keywords)."/>
            <p:cNvSpPr txBox="1"/>
            <p:nvPr/>
          </p:nvSpPr>
          <p:spPr>
            <a:xfrm>
              <a:off x="1106961" y="1474258"/>
              <a:ext cx="5266853" cy="7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431" tIns="101431" rIns="101431" bIns="101431" numCol="1" anchor="ctr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>
                  <a:solidFill>
                    <a:srgbClr val="FFFFFF"/>
                  </a:solidFill>
                </a:defRPr>
              </a:lvl1pPr>
            </a:lstStyle>
            <a:p>
              <a:r>
                <a:rPr dirty="0">
                  <a:latin typeface="+mn-lt"/>
                </a:rPr>
                <a:t>Dataset:</a:t>
              </a:r>
              <a:r>
                <a:rPr lang="en-IN" dirty="0">
                  <a:latin typeface="+mn-lt"/>
                </a:rPr>
                <a:t> ”Invoices &amp; Receipts” from Hugging face (2,238 total records ~ 282 MB of data).</a:t>
              </a:r>
              <a:endParaRPr dirty="0">
                <a:latin typeface="+mn-lt"/>
              </a:endParaRPr>
            </a:p>
          </p:txBody>
        </p:sp>
        <p:sp>
          <p:nvSpPr>
            <p:cNvPr id="330" name="Rounded Rectangle"/>
            <p:cNvSpPr/>
            <p:nvPr/>
          </p:nvSpPr>
          <p:spPr>
            <a:xfrm>
              <a:off x="0" y="2558633"/>
              <a:ext cx="6373813" cy="958409"/>
            </a:xfrm>
            <a:prstGeom prst="roundRect">
              <a:avLst>
                <a:gd name="adj" fmla="val 10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1" name="Square"/>
            <p:cNvSpPr/>
            <p:nvPr/>
          </p:nvSpPr>
          <p:spPr>
            <a:xfrm>
              <a:off x="289918" y="2774276"/>
              <a:ext cx="527125" cy="527125"/>
            </a:xfrm>
            <a:prstGeom prst="rect">
              <a:avLst/>
            </a:prstGeom>
            <a:blipFill rotWithShape="1">
              <a:blip r:embed="rId5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2" name="Problem: Predict shares to forecast virality; transform regression into multi-class classification (e.g., low/medium/high popularity)."/>
            <p:cNvSpPr txBox="1"/>
            <p:nvPr/>
          </p:nvSpPr>
          <p:spPr>
            <a:xfrm>
              <a:off x="1106961" y="2672268"/>
              <a:ext cx="5266853" cy="7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431" tIns="101431" rIns="101431" bIns="101431" numCol="1" anchor="ctr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>
                  <a:solidFill>
                    <a:srgbClr val="FFFFFF"/>
                  </a:solidFill>
                </a:defRPr>
              </a:lvl1pPr>
            </a:lstStyle>
            <a:p>
              <a:r>
                <a:rPr lang="en-IN" dirty="0">
                  <a:latin typeface="+mn-lt"/>
                </a:rPr>
                <a:t>Problem: Identify</a:t>
              </a:r>
              <a:r>
                <a:rPr lang="en-US" dirty="0">
                  <a:latin typeface="+mn-lt"/>
                </a:rPr>
                <a:t> text regions in invoice &amp; receipt images</a:t>
              </a:r>
              <a:endParaRPr dirty="0">
                <a:latin typeface="+mn-lt"/>
              </a:endParaRPr>
            </a:p>
          </p:txBody>
        </p:sp>
        <p:sp>
          <p:nvSpPr>
            <p:cNvPr id="333" name="Rounded Rectangle"/>
            <p:cNvSpPr/>
            <p:nvPr/>
          </p:nvSpPr>
          <p:spPr>
            <a:xfrm>
              <a:off x="0" y="3756645"/>
              <a:ext cx="6373813" cy="958409"/>
            </a:xfrm>
            <a:prstGeom prst="roundRect">
              <a:avLst>
                <a:gd name="adj" fmla="val 10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4" name="Square"/>
            <p:cNvSpPr/>
            <p:nvPr/>
          </p:nvSpPr>
          <p:spPr>
            <a:xfrm>
              <a:off x="289918" y="3972287"/>
              <a:ext cx="527125" cy="527124"/>
            </a:xfrm>
            <a:prstGeom prst="rect">
              <a:avLst/>
            </a:prstGeom>
            <a:blipFill rotWithShape="1">
              <a:blip r:embed="rId6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5" name="Real-world motivation: Help publishers optimize content, timing, and strategy amid information overload."/>
            <p:cNvSpPr txBox="1"/>
            <p:nvPr/>
          </p:nvSpPr>
          <p:spPr>
            <a:xfrm>
              <a:off x="1106961" y="3738706"/>
              <a:ext cx="5266853" cy="9942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431" tIns="101431" rIns="101431" bIns="101431" numCol="1" anchor="ctr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>
                  <a:solidFill>
                    <a:srgbClr val="FFFFFF"/>
                  </a:solidFill>
                </a:defRPr>
              </a:lvl1pPr>
            </a:lstStyle>
            <a:p>
              <a:r>
                <a:rPr dirty="0">
                  <a:latin typeface="+mn-ea"/>
                  <a:ea typeface="+mn-ea"/>
                </a:rPr>
                <a:t>Real-world motivation: </a:t>
              </a:r>
              <a:r>
                <a:rPr lang="en-US" dirty="0">
                  <a:latin typeface="+mn-ea"/>
                  <a:ea typeface="+mn-ea"/>
                </a:rPr>
                <a:t>Companies process millions of invoices ; manual data entry is slow, costly and error-prone!</a:t>
              </a:r>
              <a:endParaRPr dirty="0">
                <a:latin typeface="+mn-ea"/>
                <a:ea typeface="+mn-ea"/>
              </a:endParaRPr>
            </a:p>
          </p:txBody>
        </p:sp>
        <p:sp>
          <p:nvSpPr>
            <p:cNvPr id="336" name="Rounded Rectangle"/>
            <p:cNvSpPr/>
            <p:nvPr/>
          </p:nvSpPr>
          <p:spPr>
            <a:xfrm>
              <a:off x="0" y="4954654"/>
              <a:ext cx="6373813" cy="958409"/>
            </a:xfrm>
            <a:prstGeom prst="roundRect">
              <a:avLst>
                <a:gd name="adj" fmla="val 10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7" name="Square"/>
            <p:cNvSpPr/>
            <p:nvPr/>
          </p:nvSpPr>
          <p:spPr>
            <a:xfrm>
              <a:off x="289918" y="5170296"/>
              <a:ext cx="527125" cy="527125"/>
            </a:xfrm>
            <a:prstGeom prst="rect">
              <a:avLst/>
            </a:prstGeom>
            <a:blipFill rotWithShape="1">
              <a:blip r:embed="rId7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8" name="Challenges: High-dimensional data, class imbalance, interpretability."/>
            <p:cNvSpPr txBox="1"/>
            <p:nvPr/>
          </p:nvSpPr>
          <p:spPr>
            <a:xfrm>
              <a:off x="1106961" y="4936715"/>
              <a:ext cx="5266853" cy="9942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1431" tIns="101431" rIns="101431" bIns="101431" numCol="1" anchor="ctr">
              <a:spAutoFit/>
            </a:bodyPr>
            <a:lstStyle>
              <a:lvl1pPr defTabSz="844550">
                <a:lnSpc>
                  <a:spcPct val="90000"/>
                </a:lnSpc>
                <a:spcBef>
                  <a:spcPts val="700"/>
                </a:spcBef>
                <a:defRPr sz="1900">
                  <a:solidFill>
                    <a:srgbClr val="FFFFFF"/>
                  </a:solidFill>
                </a:defRPr>
              </a:lvl1pPr>
            </a:lstStyle>
            <a:p>
              <a:r>
                <a:rPr dirty="0">
                  <a:latin typeface="+mn-lt"/>
                </a:rPr>
                <a:t>Challenges: High-</a:t>
              </a:r>
              <a:r>
                <a:rPr lang="en-US" dirty="0">
                  <a:latin typeface="+mn-lt"/>
                </a:rPr>
                <a:t>variability in</a:t>
              </a:r>
              <a:r>
                <a:rPr dirty="0">
                  <a:latin typeface="+mn-lt"/>
                </a:rPr>
                <a:t> data, </a:t>
              </a:r>
              <a:r>
                <a:rPr lang="en-US" dirty="0">
                  <a:latin typeface="+mn-lt"/>
                </a:rPr>
                <a:t>unbalanced text density, Tight spacings, Language, class imbalance.</a:t>
              </a:r>
              <a:endParaRPr dirty="0">
                <a:latin typeface="+mn-lt"/>
              </a:endParaRP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roup 8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341" name="Freeform: Shape 19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2" name="Oval 21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3" name="Oval 23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4" name="Freeform: Shape 25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46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7" name="Title 1"/>
          <p:cNvSpPr txBox="1">
            <a:spLocks noGrp="1"/>
          </p:cNvSpPr>
          <p:nvPr>
            <p:ph type="title"/>
          </p:nvPr>
        </p:nvSpPr>
        <p:spPr>
          <a:xfrm>
            <a:off x="838340" y="2199062"/>
            <a:ext cx="4012171" cy="1916570"/>
          </a:xfrm>
          <a:prstGeom prst="rect">
            <a:avLst/>
          </a:prstGeom>
        </p:spPr>
        <p:txBody>
          <a:bodyPr/>
          <a:lstStyle>
            <a:lvl1pPr defTabSz="795527">
              <a:defRPr sz="4176"/>
            </a:lvl1pPr>
          </a:lstStyle>
          <a:p>
            <a:r>
              <a:rPr dirty="0"/>
              <a:t>Project Objectives &amp; Motivation</a:t>
            </a:r>
          </a:p>
        </p:txBody>
      </p:sp>
      <p:grpSp>
        <p:nvGrpSpPr>
          <p:cNvPr id="350" name="Group 16"/>
          <p:cNvGrpSpPr/>
          <p:nvPr/>
        </p:nvGrpSpPr>
        <p:grpSpPr>
          <a:xfrm>
            <a:off x="10696558" y="437302"/>
            <a:ext cx="828358" cy="828359"/>
            <a:chOff x="0" y="0"/>
            <a:chExt cx="828357" cy="828357"/>
          </a:xfrm>
        </p:grpSpPr>
        <p:sp>
          <p:nvSpPr>
            <p:cNvPr id="348" name="Freeform: Shape 27"/>
            <p:cNvSpPr/>
            <p:nvPr/>
          </p:nvSpPr>
          <p:spPr>
            <a:xfrm rot="13500000">
              <a:off x="144178" y="98442"/>
              <a:ext cx="540001" cy="631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3C3867"/>
                </a:gs>
                <a:gs pos="60000">
                  <a:srgbClr val="2C284A"/>
                </a:gs>
                <a:gs pos="100000">
                  <a:srgbClr val="181729"/>
                </a:gs>
              </a:gsLst>
              <a:lin ang="10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9" name="Oval 18"/>
            <p:cNvSpPr/>
            <p:nvPr/>
          </p:nvSpPr>
          <p:spPr>
            <a:xfrm rot="18900000">
              <a:off x="406978" y="16378"/>
              <a:ext cx="270001" cy="540001"/>
            </a:xfrm>
            <a:prstGeom prst="ellipse">
              <a:avLst/>
            </a:prstGeom>
            <a:gradFill flip="none" rotWithShape="1">
              <a:gsLst>
                <a:gs pos="0">
                  <a:srgbClr val="454075">
                    <a:alpha val="33000"/>
                  </a:srgbClr>
                </a:gs>
                <a:gs pos="100000">
                  <a:srgbClr val="5BEFC1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51" name="Oval 20"/>
          <p:cNvSpPr/>
          <p:nvPr/>
        </p:nvSpPr>
        <p:spPr>
          <a:xfrm>
            <a:off x="568948" y="4530859"/>
            <a:ext cx="360001" cy="360001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3" name="Freeform: Shape 22"/>
          <p:cNvSpPr/>
          <p:nvPr/>
        </p:nvSpPr>
        <p:spPr>
          <a:xfrm rot="2700000">
            <a:off x="4887879" y="5732881"/>
            <a:ext cx="1756554" cy="926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339" y="6327"/>
                </a:moveTo>
                <a:cubicBezTo>
                  <a:pt x="5401" y="2418"/>
                  <a:pt x="8251" y="0"/>
                  <a:pt x="11399" y="0"/>
                </a:cubicBezTo>
                <a:cubicBezTo>
                  <a:pt x="15334" y="0"/>
                  <a:pt x="18803" y="3778"/>
                  <a:pt x="20851" y="9523"/>
                </a:cubicBezTo>
                <a:lnTo>
                  <a:pt x="21600" y="12138"/>
                </a:lnTo>
                <a:lnTo>
                  <a:pt x="17053" y="20753"/>
                </a:lnTo>
                <a:lnTo>
                  <a:pt x="16983" y="19423"/>
                </a:lnTo>
                <a:cubicBezTo>
                  <a:pt x="16451" y="14502"/>
                  <a:pt x="14153" y="10800"/>
                  <a:pt x="11399" y="10800"/>
                </a:cubicBezTo>
                <a:cubicBezTo>
                  <a:pt x="8251" y="10800"/>
                  <a:pt x="5699" y="15635"/>
                  <a:pt x="5699" y="21600"/>
                </a:cubicBezTo>
                <a:lnTo>
                  <a:pt x="0" y="21600"/>
                </a:lnTo>
                <a:cubicBezTo>
                  <a:pt x="0" y="15635"/>
                  <a:pt x="1276" y="10235"/>
                  <a:pt x="3339" y="6327"/>
                </a:cubicBezTo>
                <a:close/>
              </a:path>
            </a:pathLst>
          </a:cu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4" name="Freeform: Shape 24"/>
          <p:cNvSpPr/>
          <p:nvPr/>
        </p:nvSpPr>
        <p:spPr>
          <a:xfrm rot="2700000">
            <a:off x="4817864" y="5727198"/>
            <a:ext cx="1719247" cy="10643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38" y="4932"/>
                </a:moveTo>
                <a:cubicBezTo>
                  <a:pt x="6251" y="1851"/>
                  <a:pt x="8832" y="0"/>
                  <a:pt x="11646" y="0"/>
                </a:cubicBezTo>
                <a:cubicBezTo>
                  <a:pt x="15666" y="0"/>
                  <a:pt x="19211" y="3778"/>
                  <a:pt x="21304" y="9523"/>
                </a:cubicBezTo>
                <a:lnTo>
                  <a:pt x="21600" y="10536"/>
                </a:lnTo>
                <a:lnTo>
                  <a:pt x="17084" y="17830"/>
                </a:lnTo>
                <a:lnTo>
                  <a:pt x="17012" y="17396"/>
                </a:lnTo>
                <a:cubicBezTo>
                  <a:pt x="16128" y="13520"/>
                  <a:pt x="14058" y="10800"/>
                  <a:pt x="11646" y="10800"/>
                </a:cubicBezTo>
                <a:cubicBezTo>
                  <a:pt x="8430" y="10800"/>
                  <a:pt x="5823" y="15635"/>
                  <a:pt x="5823" y="21600"/>
                </a:cubicBezTo>
                <a:lnTo>
                  <a:pt x="0" y="21600"/>
                </a:lnTo>
                <a:cubicBezTo>
                  <a:pt x="0" y="14890"/>
                  <a:pt x="1650" y="8894"/>
                  <a:pt x="4238" y="4932"/>
                </a:cubicBezTo>
                <a:close/>
              </a:path>
            </a:pathLst>
          </a:custGeom>
          <a:solidFill>
            <a:srgbClr val="7771B2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5" name="Oval 26"/>
          <p:cNvSpPr/>
          <p:nvPr/>
        </p:nvSpPr>
        <p:spPr>
          <a:xfrm rot="8100000">
            <a:off x="4927327" y="5836216"/>
            <a:ext cx="107099" cy="466591"/>
          </a:xfrm>
          <a:prstGeom prst="ellipse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56" name="Picture 3" descr="Picture 3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-20397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sp>
        <p:nvSpPr>
          <p:cNvPr id="352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370294" y="437300"/>
            <a:ext cx="7355541" cy="5606025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defRPr sz="2000" b="1">
                <a:solidFill>
                  <a:srgbClr val="FFFFFF">
                    <a:alpha val="60000"/>
                  </a:srgbClr>
                </a:solidFill>
              </a:defRPr>
            </a:pPr>
            <a:r>
              <a:rPr dirty="0">
                <a:latin typeface="+mn-lt"/>
              </a:rPr>
              <a:t>Objectives: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  <a:defRPr sz="2000" b="1">
                <a:solidFill>
                  <a:srgbClr val="FFFFFF">
                    <a:alpha val="60000"/>
                  </a:srgbClr>
                </a:solidFill>
              </a:defRPr>
            </a:pPr>
            <a:endParaRPr dirty="0">
              <a:latin typeface="+mn-lt"/>
            </a:endParaRPr>
          </a:p>
          <a:p>
            <a:pPr marL="685800" lvl="1" indent="-228600">
              <a:lnSpc>
                <a:spcPct val="90000"/>
              </a:lnSpc>
              <a:spcBef>
                <a:spcPts val="800"/>
              </a:spcBef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IN" sz="1600" dirty="0">
                <a:latin typeface="+mn-lt"/>
              </a:rPr>
              <a:t>Perform data exploration to understand invoice/receipt variability, text distribution &amp; mask annotations.</a:t>
            </a:r>
          </a:p>
          <a:p>
            <a:pPr marL="685800" lvl="1" indent="-228600">
              <a:lnSpc>
                <a:spcPct val="90000"/>
              </a:lnSpc>
              <a:spcBef>
                <a:spcPts val="800"/>
              </a:spcBef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600" dirty="0">
                <a:latin typeface="+mn-lt"/>
              </a:rPr>
              <a:t>Preprocess dataset (image resizing, polygon scaling, mask generation, noise handling).</a:t>
            </a:r>
          </a:p>
          <a:p>
            <a:pPr marL="685800" lvl="1" indent="-228600">
              <a:lnSpc>
                <a:spcPct val="90000"/>
              </a:lnSpc>
              <a:spcBef>
                <a:spcPts val="800"/>
              </a:spcBef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600" dirty="0">
                <a:latin typeface="+mn-lt"/>
              </a:rPr>
              <a:t>Implement </a:t>
            </a:r>
            <a:r>
              <a:rPr lang="en-GB" sz="1600" dirty="0" err="1">
                <a:latin typeface="+mn-lt"/>
              </a:rPr>
              <a:t>DBNet</a:t>
            </a:r>
            <a:r>
              <a:rPr lang="en-GB" sz="1600" dirty="0">
                <a:latin typeface="+mn-lt"/>
              </a:rPr>
              <a:t>-based segmentation using ResNet-18 backbone for text region detection.</a:t>
            </a:r>
          </a:p>
          <a:p>
            <a:pPr marL="685800" lvl="1" indent="-228600">
              <a:lnSpc>
                <a:spcPct val="90000"/>
              </a:lnSpc>
              <a:spcBef>
                <a:spcPts val="800"/>
              </a:spcBef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600" dirty="0">
                <a:latin typeface="+mn-lt"/>
              </a:rPr>
              <a:t>Integrate OCR on segmented regions to extract readable structured text as far as possible.</a:t>
            </a:r>
          </a:p>
          <a:p>
            <a:pPr marL="685800" lvl="1" indent="-228600">
              <a:lnSpc>
                <a:spcPct val="90000"/>
              </a:lnSpc>
              <a:spcBef>
                <a:spcPts val="800"/>
              </a:spcBef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600" dirty="0">
                <a:latin typeface="+mn-lt"/>
              </a:rPr>
              <a:t>Achieve high segmentation accuracy for real-world invoice automation.</a:t>
            </a:r>
          </a:p>
          <a:p>
            <a:pPr marL="685800" lvl="1" indent="-228600">
              <a:lnSpc>
                <a:spcPct val="90000"/>
              </a:lnSpc>
              <a:spcBef>
                <a:spcPts val="800"/>
              </a:spcBef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600" dirty="0" err="1">
                <a:latin typeface="+mn-lt"/>
              </a:rPr>
              <a:t>Analyze</a:t>
            </a:r>
            <a:r>
              <a:rPr lang="en-GB" sz="1600" dirty="0">
                <a:latin typeface="+mn-lt"/>
              </a:rPr>
              <a:t> model threshold sensitivity &amp; evaluate precision-recall trade-off for business deployment.</a:t>
            </a:r>
          </a:p>
          <a:p>
            <a:pPr marL="685800" lvl="1" indent="-228600">
              <a:lnSpc>
                <a:spcPct val="90000"/>
              </a:lnSpc>
              <a:spcBef>
                <a:spcPts val="800"/>
              </a:spcBef>
              <a:defRPr sz="2000">
                <a:solidFill>
                  <a:srgbClr val="FFFFFF">
                    <a:alpha val="60000"/>
                  </a:srgbClr>
                </a:solidFill>
              </a:defRPr>
            </a:pPr>
            <a:endParaRPr lang="en-IN" sz="1200" dirty="0">
              <a:latin typeface="+mn-lt"/>
            </a:endParaRPr>
          </a:p>
          <a:p>
            <a:pPr marL="0" indent="0">
              <a:lnSpc>
                <a:spcPct val="90000"/>
              </a:lnSpc>
              <a:buSzTx/>
              <a:buNone/>
              <a:defRPr sz="2000" b="1">
                <a:solidFill>
                  <a:srgbClr val="FFFFFF">
                    <a:alpha val="60000"/>
                  </a:srgbClr>
                </a:solidFill>
              </a:defRPr>
            </a:pPr>
            <a:r>
              <a:rPr dirty="0">
                <a:latin typeface="+mn-lt"/>
              </a:rPr>
              <a:t>Motivation: </a:t>
            </a:r>
            <a:endParaRPr lang="en-US" dirty="0">
              <a:latin typeface="+mn-lt"/>
            </a:endParaRPr>
          </a:p>
          <a:p>
            <a:pPr marL="0" indent="0">
              <a:lnSpc>
                <a:spcPct val="90000"/>
              </a:lnSpc>
              <a:buSzTx/>
              <a:buNone/>
              <a:defRPr sz="2000" b="1">
                <a:solidFill>
                  <a:srgbClr val="FFFFFF">
                    <a:alpha val="60000"/>
                  </a:srgbClr>
                </a:solidFill>
              </a:defRPr>
            </a:pPr>
            <a:endParaRPr lang="en-US" dirty="0">
              <a:latin typeface="+mn-lt"/>
            </a:endParaRPr>
          </a:p>
          <a:p>
            <a:pPr lvl="1">
              <a:lnSpc>
                <a:spcPct val="90000"/>
              </a:lnSpc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700" dirty="0">
                <a:latin typeface="+mn-lt"/>
              </a:rPr>
              <a:t>Manual invoice processing is slow, costly, error-prone &amp; non-scalable.</a:t>
            </a:r>
          </a:p>
          <a:p>
            <a:pPr lvl="1">
              <a:lnSpc>
                <a:spcPct val="90000"/>
              </a:lnSpc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700" dirty="0">
                <a:latin typeface="+mn-lt"/>
              </a:rPr>
              <a:t>Businesses need automatic extraction of totals, vendor names, line-items &amp; tax fields for accounts payable.</a:t>
            </a:r>
          </a:p>
          <a:p>
            <a:pPr lvl="1">
              <a:lnSpc>
                <a:spcPct val="90000"/>
              </a:lnSpc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700" dirty="0">
                <a:latin typeface="+mn-lt"/>
              </a:rPr>
              <a:t>AI-driven invoice understanding accelerates billing, audits, reimbursement &amp; compliance workflows.</a:t>
            </a:r>
          </a:p>
          <a:p>
            <a:pPr lvl="1">
              <a:lnSpc>
                <a:spcPct val="90000"/>
              </a:lnSpc>
              <a:defRPr sz="2000">
                <a:solidFill>
                  <a:srgbClr val="FFFFFF">
                    <a:alpha val="60000"/>
                  </a:srgbClr>
                </a:solidFill>
              </a:defRPr>
            </a:pPr>
            <a:r>
              <a:rPr lang="en-GB" sz="1700" dirty="0">
                <a:latin typeface="+mn-lt"/>
              </a:rPr>
              <a:t>Enables high-volume document automation → reduced human effort, increased accuracy, faster financial decisions.</a:t>
            </a:r>
          </a:p>
          <a:p>
            <a:pPr>
              <a:lnSpc>
                <a:spcPct val="90000"/>
              </a:lnSpc>
              <a:defRPr sz="2000">
                <a:solidFill>
                  <a:srgbClr val="FFFFFF">
                    <a:alpha val="60000"/>
                  </a:srgbClr>
                </a:solidFill>
              </a:defRPr>
            </a:pPr>
            <a:endParaRPr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roup 10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358" name="Freeform: Shape 11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9" name="Oval 12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60" name="Oval 13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61" name="Freeform: Shape 14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63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4" name="Title 1"/>
          <p:cNvSpPr txBox="1">
            <a:spLocks noGrp="1"/>
          </p:cNvSpPr>
          <p:nvPr>
            <p:ph type="title"/>
          </p:nvPr>
        </p:nvSpPr>
        <p:spPr>
          <a:xfrm>
            <a:off x="550862" y="549274"/>
            <a:ext cx="3565526" cy="554355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rPr dirty="0"/>
              <a:t>Framework</a:t>
            </a:r>
          </a:p>
        </p:txBody>
      </p:sp>
      <p:sp>
        <p:nvSpPr>
          <p:cNvPr id="365" name="Rectangle 18"/>
          <p:cNvSpPr/>
          <p:nvPr/>
        </p:nvSpPr>
        <p:spPr>
          <a:xfrm>
            <a:off x="4550899" y="0"/>
            <a:ext cx="7641102" cy="6858000"/>
          </a:xfrm>
          <a:prstGeom prst="rect">
            <a:avLst/>
          </a:prstGeom>
          <a:solidFill>
            <a:srgbClr val="E4E3F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66" name="Picture 4" descr="Picture 4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-1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1" name="Content Placeholder 2"/>
          <p:cNvGrpSpPr/>
          <p:nvPr/>
        </p:nvGrpSpPr>
        <p:grpSpPr>
          <a:xfrm>
            <a:off x="5267322" y="239993"/>
            <a:ext cx="6373816" cy="6618007"/>
            <a:chOff x="0" y="0"/>
            <a:chExt cx="6373814" cy="3372519"/>
          </a:xfrm>
        </p:grpSpPr>
        <p:sp>
          <p:nvSpPr>
            <p:cNvPr id="367" name="Line"/>
            <p:cNvSpPr/>
            <p:nvPr/>
          </p:nvSpPr>
          <p:spPr>
            <a:xfrm>
              <a:off x="0" y="0"/>
              <a:ext cx="6373814" cy="0"/>
            </a:xfrm>
            <a:prstGeom prst="line">
              <a:avLst/>
            </a:prstGeom>
            <a:solidFill>
              <a:schemeClr val="accent2"/>
            </a:solidFill>
            <a:ln w="12700" cap="flat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68" name="Frameworks:…"/>
            <p:cNvSpPr txBox="1"/>
            <p:nvPr/>
          </p:nvSpPr>
          <p:spPr>
            <a:xfrm>
              <a:off x="0" y="0"/>
              <a:ext cx="6373814" cy="3372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5250" tIns="95250" rIns="95250" bIns="95250" numCol="1" anchor="t">
              <a:spAutoFit/>
            </a:bodyPr>
            <a:lstStyle/>
            <a:p>
              <a:pPr algn="just" defTabSz="1111250">
                <a:lnSpc>
                  <a:spcPct val="90000"/>
                </a:lnSpc>
                <a:spcBef>
                  <a:spcPts val="1000"/>
                </a:spcBef>
                <a:defRPr sz="2500">
                  <a:solidFill>
                    <a:srgbClr val="FFFFFF"/>
                  </a:solidFill>
                </a:defRPr>
              </a:pPr>
              <a:r>
                <a:rPr dirty="0">
                  <a:latin typeface="+mn-lt"/>
                </a:rPr>
                <a:t>Frameworks:</a:t>
              </a:r>
              <a:endParaRPr lang="en-US" dirty="0">
                <a:latin typeface="+mn-lt"/>
              </a:endParaRPr>
            </a:p>
            <a:p>
              <a:pPr algn="just" defTabSz="1111250">
                <a:lnSpc>
                  <a:spcPct val="90000"/>
                </a:lnSpc>
                <a:spcBef>
                  <a:spcPts val="1000"/>
                </a:spcBef>
                <a:defRPr sz="2500">
                  <a:solidFill>
                    <a:srgbClr val="FFFFFF"/>
                  </a:solidFill>
                </a:defRPr>
              </a:pPr>
              <a:endParaRPr dirty="0">
                <a:latin typeface="+mn-lt"/>
              </a:endParaRP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r>
                <a:rPr lang="en-IN" sz="2000" dirty="0" err="1">
                  <a:latin typeface="+mn-lt"/>
                </a:rPr>
                <a:t>DBNet</a:t>
              </a:r>
              <a:r>
                <a:rPr lang="en-IN" sz="2000" dirty="0">
                  <a:latin typeface="+mn-lt"/>
                </a:rPr>
                <a:t> (Bai et al., 2020) introduces a Differentiable Binarization mechanism enabling pixel-level text segmentation — ideal for irregular invoice layouts</a:t>
              </a: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endParaRPr lang="en-IN" sz="2000" dirty="0">
                <a:latin typeface="+mn-lt"/>
              </a:endParaRP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endParaRPr lang="en-IN" sz="2000" dirty="0">
                <a:latin typeface="+mn-lt"/>
              </a:endParaRP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r>
                <a:rPr lang="en-IN" sz="2000" dirty="0">
                  <a:latin typeface="+mn-lt"/>
                </a:rPr>
                <a:t>ResNet-18 backbone (He et al., 2016) enables deep residual feature extraction, preserving gradient flow and improving detection of small, dense text regions</a:t>
              </a: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endParaRPr lang="en-IN" sz="2000" dirty="0">
                <a:latin typeface="+mn-lt"/>
              </a:endParaRP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endParaRPr lang="en-IN" sz="2000" dirty="0">
                <a:latin typeface="+mn-lt"/>
              </a:endParaRP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r>
                <a:rPr lang="en-IN" sz="2000" dirty="0">
                  <a:latin typeface="+mn-lt"/>
                </a:rPr>
                <a:t>OCR Pipeline Integration — segmentation masks isolate text zones → OCR extracts structured words with higher accuracy and less noise.</a:t>
              </a: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endParaRPr lang="en-IN" sz="2000" dirty="0">
                <a:latin typeface="+mn-lt"/>
              </a:endParaRP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endParaRPr lang="en-IN" sz="2000" dirty="0">
                <a:latin typeface="+mn-lt"/>
              </a:endParaRPr>
            </a:p>
            <a:p>
              <a:pPr marL="342900" indent="-342900" algn="just" defTabSz="11112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500">
                  <a:solidFill>
                    <a:srgbClr val="FFFFFF"/>
                  </a:solidFill>
                </a:defRPr>
              </a:pPr>
              <a:endParaRPr dirty="0">
                <a:latin typeface="+mn-lt"/>
              </a:endParaRPr>
            </a:p>
          </p:txBody>
        </p:sp>
        <p:sp>
          <p:nvSpPr>
            <p:cNvPr id="369" name="Line"/>
            <p:cNvSpPr/>
            <p:nvPr/>
          </p:nvSpPr>
          <p:spPr>
            <a:xfrm>
              <a:off x="0" y="3154183"/>
              <a:ext cx="6373814" cy="1"/>
            </a:xfrm>
            <a:prstGeom prst="line">
              <a:avLst/>
            </a:prstGeom>
            <a:solidFill>
              <a:schemeClr val="accent3"/>
            </a:solidFill>
            <a:ln w="1270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6D87D2-E2F2-3C83-F8DB-7AAB1DB59B83}"/>
              </a:ext>
            </a:extLst>
          </p:cNvPr>
          <p:cNvGrpSpPr/>
          <p:nvPr/>
        </p:nvGrpSpPr>
        <p:grpSpPr>
          <a:xfrm>
            <a:off x="5765181" y="2313210"/>
            <a:ext cx="5875957" cy="215442"/>
            <a:chOff x="5765181" y="2613176"/>
            <a:chExt cx="5875957" cy="2154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0629A7A-63DD-FBC6-7A6C-E0108C06C4E9}"/>
                </a:ext>
              </a:extLst>
            </p:cNvPr>
            <p:cNvSpPr/>
            <p:nvPr/>
          </p:nvSpPr>
          <p:spPr>
            <a:xfrm>
              <a:off x="5765181" y="2613193"/>
              <a:ext cx="412596" cy="21540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Image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89A3ED6-DF62-330E-F189-FAAA511247B0}"/>
                </a:ext>
              </a:extLst>
            </p:cNvPr>
            <p:cNvSpPr/>
            <p:nvPr/>
          </p:nvSpPr>
          <p:spPr>
            <a:xfrm>
              <a:off x="6958342" y="2613195"/>
              <a:ext cx="928379" cy="215404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Probability Map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B9B7D1-51F7-6617-C36E-4B0C16BC39CA}"/>
                </a:ext>
              </a:extLst>
            </p:cNvPr>
            <p:cNvSpPr/>
            <p:nvPr/>
          </p:nvSpPr>
          <p:spPr>
            <a:xfrm>
              <a:off x="8667287" y="2613222"/>
              <a:ext cx="928379" cy="21535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Binary Map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925B65-5BAD-2229-7417-F39FF902DE53}"/>
                </a:ext>
              </a:extLst>
            </p:cNvPr>
            <p:cNvSpPr/>
            <p:nvPr/>
          </p:nvSpPr>
          <p:spPr>
            <a:xfrm>
              <a:off x="10540775" y="2613176"/>
              <a:ext cx="1100363" cy="21544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Text Region Extraction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247F35B-2A71-6CEF-06CE-BEFE312832AD}"/>
                </a:ext>
              </a:extLst>
            </p:cNvPr>
            <p:cNvCxnSpPr>
              <a:cxnSpLocks/>
              <a:stCxn id="2" idx="3"/>
              <a:endCxn id="3" idx="1"/>
            </p:cNvCxnSpPr>
            <p:nvPr/>
          </p:nvCxnSpPr>
          <p:spPr>
            <a:xfrm>
              <a:off x="6177777" y="2720897"/>
              <a:ext cx="780565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F395A16-C845-6165-93EA-DCDD14F19BA4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7886721" y="2720897"/>
              <a:ext cx="780566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270C6F-BAF3-DDD6-7387-5B2DB784FA9E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9595666" y="2720897"/>
              <a:ext cx="945109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A8B500A-34A7-A393-C717-7D867165E53C}"/>
              </a:ext>
            </a:extLst>
          </p:cNvPr>
          <p:cNvGrpSpPr/>
          <p:nvPr/>
        </p:nvGrpSpPr>
        <p:grpSpPr>
          <a:xfrm>
            <a:off x="5765181" y="3990797"/>
            <a:ext cx="5875957" cy="338552"/>
            <a:chOff x="5765181" y="4329348"/>
            <a:chExt cx="5875957" cy="3385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16CB3C-2ED2-F5A3-E167-6E77A0B7E85C}"/>
                </a:ext>
              </a:extLst>
            </p:cNvPr>
            <p:cNvSpPr/>
            <p:nvPr/>
          </p:nvSpPr>
          <p:spPr>
            <a:xfrm>
              <a:off x="5765181" y="4390920"/>
              <a:ext cx="412596" cy="21540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Image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7466A12-BFF3-5465-AED6-82D381B3153D}"/>
                </a:ext>
              </a:extLst>
            </p:cNvPr>
            <p:cNvSpPr/>
            <p:nvPr/>
          </p:nvSpPr>
          <p:spPr>
            <a:xfrm>
              <a:off x="6958342" y="4390922"/>
              <a:ext cx="928379" cy="215404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Convolution Layers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46016-0592-F5A1-3FDF-543385405AEB}"/>
                </a:ext>
              </a:extLst>
            </p:cNvPr>
            <p:cNvSpPr/>
            <p:nvPr/>
          </p:nvSpPr>
          <p:spPr>
            <a:xfrm>
              <a:off x="8667287" y="4390949"/>
              <a:ext cx="928379" cy="21535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Residual Blocks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F5D546-AE7F-1E5F-8802-FBEC16A89FE2}"/>
                </a:ext>
              </a:extLst>
            </p:cNvPr>
            <p:cNvSpPr/>
            <p:nvPr/>
          </p:nvSpPr>
          <p:spPr>
            <a:xfrm>
              <a:off x="10540775" y="4329348"/>
              <a:ext cx="1100363" cy="3385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Feature Maps(Sent to </a:t>
              </a:r>
              <a:r>
                <a:rPr kumimoji="0" lang="en-US" sz="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DBNet</a:t>
              </a: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 Head)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CD720AD-BEBB-C18E-4FA7-ED7A302C9BD3}"/>
                </a:ext>
              </a:extLst>
            </p:cNvPr>
            <p:cNvCxnSpPr>
              <a:cxnSpLocks/>
              <a:stCxn id="15" idx="3"/>
              <a:endCxn id="16" idx="1"/>
            </p:cNvCxnSpPr>
            <p:nvPr/>
          </p:nvCxnSpPr>
          <p:spPr>
            <a:xfrm>
              <a:off x="6177777" y="4498624"/>
              <a:ext cx="780565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286A464-A6C1-581F-9E39-AB641D450224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7886721" y="4498624"/>
              <a:ext cx="780566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46F08D3-1464-DA28-0281-61A608885821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>
              <a:off x="9595666" y="4498624"/>
              <a:ext cx="945109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BCF22BC-0EF7-3817-1AA9-EABE0B4E8D80}"/>
              </a:ext>
            </a:extLst>
          </p:cNvPr>
          <p:cNvGrpSpPr/>
          <p:nvPr/>
        </p:nvGrpSpPr>
        <p:grpSpPr>
          <a:xfrm>
            <a:off x="5615741" y="5635183"/>
            <a:ext cx="6025397" cy="338552"/>
            <a:chOff x="5615740" y="5999354"/>
            <a:chExt cx="6025397" cy="33855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7AD09D-5EFF-F714-E76E-CE19FA8572EC}"/>
                </a:ext>
              </a:extLst>
            </p:cNvPr>
            <p:cNvSpPr/>
            <p:nvPr/>
          </p:nvSpPr>
          <p:spPr>
            <a:xfrm>
              <a:off x="5615740" y="6060926"/>
              <a:ext cx="412596" cy="21540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Image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55C406-C10F-B659-F2E3-3E46E080D03B}"/>
                </a:ext>
              </a:extLst>
            </p:cNvPr>
            <p:cNvSpPr/>
            <p:nvPr/>
          </p:nvSpPr>
          <p:spPr>
            <a:xfrm>
              <a:off x="6376754" y="5999354"/>
              <a:ext cx="928379" cy="3385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Text Mask(From </a:t>
              </a:r>
              <a:r>
                <a:rPr kumimoji="0" lang="en-US" sz="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DBNet</a:t>
              </a: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984F72-F0EC-31F4-CA4C-DF5CE1648B33}"/>
                </a:ext>
              </a:extLst>
            </p:cNvPr>
            <p:cNvSpPr/>
            <p:nvPr/>
          </p:nvSpPr>
          <p:spPr>
            <a:xfrm>
              <a:off x="7732149" y="6060955"/>
              <a:ext cx="928379" cy="21535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Region Cropping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7B4DAA-5EC7-D369-B8CD-DFD53F193950}"/>
                </a:ext>
              </a:extLst>
            </p:cNvPr>
            <p:cNvSpPr/>
            <p:nvPr/>
          </p:nvSpPr>
          <p:spPr>
            <a:xfrm>
              <a:off x="9087544" y="6060909"/>
              <a:ext cx="1100363" cy="21544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OCR Recognition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A925174-568F-F8C0-A525-05B2261843C9}"/>
                </a:ext>
              </a:extLst>
            </p:cNvPr>
            <p:cNvCxnSpPr>
              <a:cxnSpLocks/>
            </p:cNvCxnSpPr>
            <p:nvPr/>
          </p:nvCxnSpPr>
          <p:spPr>
            <a:xfrm>
              <a:off x="6028336" y="6168630"/>
              <a:ext cx="348418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8F6A4A4-B4AB-04C3-8492-AF412BF60A84}"/>
                </a:ext>
              </a:extLst>
            </p:cNvPr>
            <p:cNvCxnSpPr>
              <a:cxnSpLocks/>
            </p:cNvCxnSpPr>
            <p:nvPr/>
          </p:nvCxnSpPr>
          <p:spPr>
            <a:xfrm>
              <a:off x="7305133" y="6168630"/>
              <a:ext cx="427016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A24C31C-6D1C-0711-0C73-88A16EC09EE4}"/>
                </a:ext>
              </a:extLst>
            </p:cNvPr>
            <p:cNvCxnSpPr>
              <a:cxnSpLocks/>
            </p:cNvCxnSpPr>
            <p:nvPr/>
          </p:nvCxnSpPr>
          <p:spPr>
            <a:xfrm>
              <a:off x="8660528" y="6168630"/>
              <a:ext cx="427016" cy="0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C670765-A1C0-7A7C-F3DA-07765F6F478A}"/>
                </a:ext>
              </a:extLst>
            </p:cNvPr>
            <p:cNvSpPr/>
            <p:nvPr/>
          </p:nvSpPr>
          <p:spPr>
            <a:xfrm>
              <a:off x="10540774" y="6060909"/>
              <a:ext cx="1100363" cy="21544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Gill Sans MT"/>
                  <a:cs typeface="Gill Sans MT"/>
                  <a:sym typeface="Gill Sans MT"/>
                </a:rPr>
                <a:t>Structured Text Output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FDA98E3-B929-9F08-CA6E-751EA0DF4D1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7907" y="6167904"/>
              <a:ext cx="352867" cy="1452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roup 8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373" name="Freeform: Shape 9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4" name="Oval 10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5" name="Oval 11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6" name="Freeform: Shape 12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78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9" name="Title 1"/>
          <p:cNvSpPr txBox="1">
            <a:spLocks noGrp="1"/>
          </p:cNvSpPr>
          <p:nvPr>
            <p:ph type="title"/>
          </p:nvPr>
        </p:nvSpPr>
        <p:spPr>
          <a:xfrm>
            <a:off x="550861" y="1435100"/>
            <a:ext cx="4129996" cy="1997855"/>
          </a:xfrm>
          <a:prstGeom prst="rect">
            <a:avLst/>
          </a:prstGeom>
        </p:spPr>
        <p:txBody>
          <a:bodyPr/>
          <a:lstStyle>
            <a:lvl1pPr defTabSz="896111">
              <a:defRPr sz="4312"/>
            </a:lvl1pPr>
          </a:lstStyle>
          <a:p>
            <a:r>
              <a:rPr dirty="0"/>
              <a:t>Methodology - </a:t>
            </a:r>
            <a:r>
              <a:rPr lang="en-US" dirty="0"/>
              <a:t>Model</a:t>
            </a:r>
            <a:r>
              <a:rPr dirty="0"/>
              <a:t> &amp; </a:t>
            </a:r>
            <a:r>
              <a:rPr lang="en-US" dirty="0"/>
              <a:t>Training</a:t>
            </a:r>
            <a:endParaRPr dirty="0"/>
          </a:p>
        </p:txBody>
      </p:sp>
      <p:sp>
        <p:nvSpPr>
          <p:cNvPr id="380" name="Oval 16"/>
          <p:cNvSpPr/>
          <p:nvPr/>
        </p:nvSpPr>
        <p:spPr>
          <a:xfrm>
            <a:off x="11050224" y="606559"/>
            <a:ext cx="360001" cy="360001"/>
          </a:xfrm>
          <a:prstGeom prst="ellipse">
            <a:avLst/>
          </a:prstGeom>
          <a:gradFill>
            <a:gsLst>
              <a:gs pos="60000">
                <a:srgbClr val="1B192E"/>
              </a:gs>
              <a:gs pos="100000">
                <a:srgbClr val="7771B2"/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83" name="Group 18"/>
          <p:cNvGrpSpPr/>
          <p:nvPr/>
        </p:nvGrpSpPr>
        <p:grpSpPr>
          <a:xfrm>
            <a:off x="144675" y="3047436"/>
            <a:ext cx="3325848" cy="3325154"/>
            <a:chOff x="0" y="0"/>
            <a:chExt cx="3325847" cy="3325152"/>
          </a:xfrm>
        </p:grpSpPr>
        <p:sp>
          <p:nvSpPr>
            <p:cNvPr id="381" name="Freeform: Shape 19"/>
            <p:cNvSpPr/>
            <p:nvPr/>
          </p:nvSpPr>
          <p:spPr>
            <a:xfrm rot="2700000">
              <a:off x="589133" y="393766"/>
              <a:ext cx="2160001" cy="252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287" y="15923"/>
                  </a:lnTo>
                  <a:lnTo>
                    <a:pt x="21381" y="16052"/>
                  </a:lnTo>
                  <a:cubicBezTo>
                    <a:pt x="21524" y="16352"/>
                    <a:pt x="21600" y="16663"/>
                    <a:pt x="21600" y="16982"/>
                  </a:cubicBezTo>
                  <a:cubicBezTo>
                    <a:pt x="21600" y="19533"/>
                    <a:pt x="16765" y="21600"/>
                    <a:pt x="10800" y="21600"/>
                  </a:cubicBezTo>
                  <a:cubicBezTo>
                    <a:pt x="4835" y="21600"/>
                    <a:pt x="0" y="19533"/>
                    <a:pt x="0" y="16982"/>
                  </a:cubicBezTo>
                  <a:cubicBezTo>
                    <a:pt x="0" y="16663"/>
                    <a:pt x="76" y="16352"/>
                    <a:pt x="219" y="16052"/>
                  </a:cubicBezTo>
                  <a:lnTo>
                    <a:pt x="313" y="15923"/>
                  </a:lnTo>
                  <a:lnTo>
                    <a:pt x="10800" y="0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2C284A"/>
                </a:gs>
                <a:gs pos="40000">
                  <a:srgbClr val="454075"/>
                </a:gs>
                <a:gs pos="60000">
                  <a:srgbClr val="2C284A"/>
                </a:gs>
                <a:gs pos="100000">
                  <a:srgbClr val="1B192E"/>
                </a:gs>
              </a:gsLst>
              <a:lin ang="6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2" name="Oval 20"/>
            <p:cNvSpPr/>
            <p:nvPr/>
          </p:nvSpPr>
          <p:spPr>
            <a:xfrm rot="8100000">
              <a:off x="609492" y="1090031"/>
              <a:ext cx="1080001" cy="2171257"/>
            </a:xfrm>
            <a:prstGeom prst="ellipse">
              <a:avLst/>
            </a:prstGeom>
            <a:gradFill flip="none" rotWithShape="1">
              <a:gsLst>
                <a:gs pos="50000">
                  <a:srgbClr val="23213C"/>
                </a:gs>
                <a:gs pos="100000">
                  <a:srgbClr val="2C284A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8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990398" y="1125675"/>
            <a:ext cx="5912615" cy="522719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fontAlgn="ctr"/>
            <a:r>
              <a:rPr lang="en-GB" b="1" dirty="0" err="1"/>
              <a:t>PyTorch</a:t>
            </a:r>
            <a:r>
              <a:rPr lang="en-GB" b="1" dirty="0"/>
              <a:t> Lightning training workflow</a:t>
            </a:r>
            <a:endParaRPr lang="en-GB" dirty="0"/>
          </a:p>
          <a:p>
            <a:pPr lvl="1" fontAlgn="ctr"/>
            <a:r>
              <a:rPr lang="en-GB" dirty="0"/>
              <a:t>Automated training loops, logging &amp; checkpointing</a:t>
            </a:r>
          </a:p>
          <a:p>
            <a:pPr lvl="1" fontAlgn="ctr"/>
            <a:r>
              <a:rPr lang="en-GB" dirty="0"/>
              <a:t>GPU-optimized batching + mixed-precision support</a:t>
            </a:r>
          </a:p>
          <a:p>
            <a:pPr lvl="1" fontAlgn="ctr"/>
            <a:r>
              <a:rPr lang="en-GB" dirty="0"/>
              <a:t>Validation runs triggered periodically during training</a:t>
            </a:r>
          </a:p>
          <a:p>
            <a:pPr fontAlgn="ctr"/>
            <a:r>
              <a:rPr lang="en-GB" b="1" dirty="0"/>
              <a:t>Pixel-level segmentation metrics</a:t>
            </a:r>
            <a:endParaRPr lang="en-GB" dirty="0"/>
          </a:p>
          <a:p>
            <a:pPr lvl="1" fontAlgn="ctr"/>
            <a:r>
              <a:rPr lang="en-GB" dirty="0"/>
              <a:t>Precision, Recall, F1-Score, </a:t>
            </a:r>
            <a:r>
              <a:rPr lang="en-GB" dirty="0" err="1"/>
              <a:t>IoU</a:t>
            </a:r>
            <a:r>
              <a:rPr lang="en-GB" dirty="0"/>
              <a:t> for text-mask accuracy</a:t>
            </a:r>
          </a:p>
          <a:p>
            <a:pPr lvl="1" fontAlgn="ctr"/>
            <a:r>
              <a:rPr lang="en-GB" dirty="0"/>
              <a:t>Evaluated on 409 invoice/receipt images</a:t>
            </a:r>
          </a:p>
          <a:p>
            <a:pPr lvl="1" fontAlgn="ctr"/>
            <a:r>
              <a:rPr lang="en-GB" dirty="0"/>
              <a:t>Binary mask comparison against polygon-derived ground truth</a:t>
            </a:r>
          </a:p>
          <a:p>
            <a:pPr fontAlgn="ctr"/>
            <a:r>
              <a:rPr lang="en-GB" b="1" dirty="0"/>
              <a:t>Threshold sweep for Precision-Recall trade-offs</a:t>
            </a:r>
            <a:endParaRPr lang="en-GB" dirty="0"/>
          </a:p>
          <a:p>
            <a:pPr lvl="1" fontAlgn="ctr"/>
            <a:r>
              <a:rPr lang="en-GB" dirty="0"/>
              <a:t>Thresholds tested from </a:t>
            </a:r>
            <a:r>
              <a:rPr lang="en-US" b="1" dirty="0"/>
              <a:t>0.10 → 0.90</a:t>
            </a:r>
            <a:endParaRPr lang="en-GB" dirty="0"/>
          </a:p>
          <a:p>
            <a:pPr lvl="1" fontAlgn="ctr"/>
            <a:r>
              <a:rPr lang="en-GB" dirty="0"/>
              <a:t>Best performance in </a:t>
            </a:r>
            <a:r>
              <a:rPr lang="en-US" b="1" dirty="0"/>
              <a:t>0.5 range (F1 ≈ 0.8274)</a:t>
            </a:r>
            <a:endParaRPr lang="en-GB" dirty="0"/>
          </a:p>
          <a:p>
            <a:pPr lvl="1" fontAlgn="ctr"/>
            <a:r>
              <a:rPr lang="en-GB" dirty="0"/>
              <a:t>enables tuning for </a:t>
            </a:r>
            <a:r>
              <a:rPr lang="en-US" b="1" dirty="0"/>
              <a:t>high-recall or high-precision business usage</a:t>
            </a:r>
            <a:endParaRPr lang="en-GB" dirty="0"/>
          </a:p>
        </p:txBody>
      </p:sp>
      <p:pic>
        <p:nvPicPr>
          <p:cNvPr id="385" name="Picture 3" descr="Picture 3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-1" y="0"/>
            <a:ext cx="1538691" cy="1125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itle 1"/>
          <p:cNvSpPr txBox="1">
            <a:spLocks noGrp="1"/>
          </p:cNvSpPr>
          <p:nvPr>
            <p:ph type="title"/>
          </p:nvPr>
        </p:nvSpPr>
        <p:spPr>
          <a:xfrm>
            <a:off x="581342" y="323643"/>
            <a:ext cx="9355140" cy="1037072"/>
          </a:xfrm>
          <a:prstGeom prst="rect">
            <a:avLst/>
          </a:prstGeom>
        </p:spPr>
        <p:txBody>
          <a:bodyPr>
            <a:normAutofit/>
          </a:bodyPr>
          <a:lstStyle>
            <a:lvl1pPr defTabSz="868680">
              <a:defRPr sz="3420"/>
            </a:lvl1pPr>
          </a:lstStyle>
          <a:p>
            <a:r>
              <a:rPr dirty="0"/>
              <a:t>Methodology </a:t>
            </a:r>
            <a:r>
              <a:rPr lang="en-IN" dirty="0"/>
              <a:t>–</a:t>
            </a:r>
            <a:r>
              <a:rPr dirty="0"/>
              <a:t> </a:t>
            </a:r>
            <a:r>
              <a:rPr lang="en-US" dirty="0"/>
              <a:t>Model Performance</a:t>
            </a:r>
            <a:endParaRPr dirty="0"/>
          </a:p>
        </p:txBody>
      </p:sp>
      <p:sp>
        <p:nvSpPr>
          <p:cNvPr id="388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50713" y="1531091"/>
            <a:ext cx="10892202" cy="219614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99000"/>
              </a:lnSpc>
            </a:pPr>
            <a:r>
              <a:rPr lang="en-US" dirty="0"/>
              <a:t>Best F1 Range</a:t>
            </a:r>
            <a:r>
              <a:rPr dirty="0"/>
              <a:t>: </a:t>
            </a:r>
            <a:r>
              <a:rPr lang="en-US" dirty="0"/>
              <a:t>0.30-0.40; F1 ~ ____</a:t>
            </a:r>
          </a:p>
          <a:p>
            <a:pPr>
              <a:lnSpc>
                <a:spcPct val="99000"/>
              </a:lnSpc>
            </a:pPr>
            <a:r>
              <a:rPr lang="en-US" sz="1600" dirty="0"/>
              <a:t>Standard Threshold performance at 0.5:</a:t>
            </a:r>
          </a:p>
          <a:p>
            <a:pPr lvl="1">
              <a:lnSpc>
                <a:spcPct val="99000"/>
              </a:lnSpc>
            </a:pPr>
            <a:r>
              <a:rPr lang="en-US" sz="1600" dirty="0"/>
              <a:t>Precision : 0.84</a:t>
            </a:r>
          </a:p>
          <a:p>
            <a:pPr lvl="1">
              <a:lnSpc>
                <a:spcPct val="99000"/>
              </a:lnSpc>
            </a:pPr>
            <a:r>
              <a:rPr lang="en-US" sz="1600" dirty="0"/>
              <a:t>Recall: 0.82</a:t>
            </a:r>
          </a:p>
          <a:p>
            <a:pPr lvl="1">
              <a:lnSpc>
                <a:spcPct val="99000"/>
              </a:lnSpc>
            </a:pPr>
            <a:r>
              <a:rPr lang="en-US" sz="1600" dirty="0"/>
              <a:t>F1: 0.83</a:t>
            </a:r>
          </a:p>
          <a:p>
            <a:pPr lvl="1">
              <a:lnSpc>
                <a:spcPct val="99000"/>
              </a:lnSpc>
            </a:pPr>
            <a:r>
              <a:rPr lang="en-US" sz="1600" dirty="0" err="1"/>
              <a:t>IoU</a:t>
            </a:r>
            <a:r>
              <a:rPr lang="en-US" sz="1600" dirty="0"/>
              <a:t>: 0.71</a:t>
            </a:r>
          </a:p>
          <a:p>
            <a:pPr>
              <a:lnSpc>
                <a:spcPct val="99000"/>
              </a:lnSpc>
            </a:pPr>
            <a:r>
              <a:rPr lang="en-US" sz="1600" dirty="0"/>
              <a:t>The above values shows a strong balance between false positive and false negatives</a:t>
            </a:r>
            <a:endParaRPr sz="1600" dirty="0"/>
          </a:p>
        </p:txBody>
      </p:sp>
      <p:graphicFrame>
        <p:nvGraphicFramePr>
          <p:cNvPr id="389" name="Table 3"/>
          <p:cNvGraphicFramePr/>
          <p:nvPr>
            <p:extLst>
              <p:ext uri="{D42A27DB-BD31-4B8C-83A1-F6EECF244321}">
                <p14:modId xmlns:p14="http://schemas.microsoft.com/office/powerpoint/2010/main" val="415888867"/>
              </p:ext>
            </p:extLst>
          </p:nvPr>
        </p:nvGraphicFramePr>
        <p:xfrm>
          <a:off x="335428" y="4132647"/>
          <a:ext cx="11172630" cy="245561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247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1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52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0" marR="0" marT="0" marB="0" anchor="b" horzOverflow="overflow">
                    <a:lnL w="6350">
                      <a:solidFill>
                        <a:schemeClr val="accent2"/>
                      </a:solidFill>
                      <a:miter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 b="0"/>
                      </a:pPr>
                      <a:r>
                        <a:rPr lang="en-US" sz="1200" b="1" dirty="0"/>
                        <a:t>Example Result </a:t>
                      </a:r>
                      <a:endParaRPr sz="1200" b="1" dirty="0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7368">
                <a:tc>
                  <a:txBody>
                    <a:bodyPr/>
                    <a:lstStyle/>
                    <a:p>
                      <a:pPr indent="114935"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horzOverflow="overflow">
                    <a:lnR w="12700">
                      <a:miter lim="400000"/>
                    </a:lnR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dirty="0" err="1">
                          <a:solidFill>
                            <a:srgbClr val="FFFFFF"/>
                          </a:solidFill>
                        </a:rPr>
                        <a:t>IoU</a:t>
                      </a:r>
                      <a:endParaRPr sz="1200" dirty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horzOverflow="overflow">
                    <a:lnL w="12700">
                      <a:miter lim="400000"/>
                    </a:lnL>
                    <a:lnB w="635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0" marR="0" marT="0" marB="0" anchor="ctr" horzOverflow="overflow">
                    <a:lnB w="635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0" marR="0" marT="0" marB="0" anchor="ctr" horzOverflow="overflow">
                    <a:lnB w="635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F1 Score</a:t>
                      </a:r>
                    </a:p>
                  </a:txBody>
                  <a:tcPr marL="0" marR="0" marT="0" marB="0" anchor="ctr" horzOverflow="overflow">
                    <a:lnB w="6350" cap="flat" cmpd="sng" algn="ctr">
                      <a:solidFill>
                        <a:schemeClr val="accent2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0.10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horzOverflow="overflow">
                    <a:lnR w="12700">
                      <a:noFill/>
                      <a:miter lim="400000"/>
                    </a:lnR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0.6669</a:t>
                      </a:r>
                    </a:p>
                  </a:txBody>
                  <a:tcPr marL="68580" marR="68580" marT="0" marB="0">
                    <a:lnL w="12700">
                      <a:miter lim="400000"/>
                    </a:lnL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0.6790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0.9741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0.8002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0.30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horzOverflow="overflow">
                    <a:lnR w="12700">
                      <a:noFill/>
                      <a:miter lim="400000"/>
                    </a:lnR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0.7261</a:t>
                      </a:r>
                    </a:p>
                  </a:txBody>
                  <a:tcPr marL="68580" marR="68580" marT="0" marB="0">
                    <a:lnL w="12700">
                      <a:miter lim="400000"/>
                    </a:lnL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0.7805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0.9125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0.8413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0.50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horzOverflow="overflow">
                    <a:lnR w="12700">
                      <a:noFill/>
                      <a:miter lim="400000"/>
                    </a:lnR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0.7056</a:t>
                      </a:r>
                    </a:p>
                  </a:txBody>
                  <a:tcPr marL="68580" marR="68580" marT="0" marB="0">
                    <a:lnL w="12700">
                      <a:miter lim="400000"/>
                    </a:lnL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0.8401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0.8150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0.8274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7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8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0.85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horzOverflow="overflow">
                    <a:lnR w="12700">
                      <a:noFill/>
                      <a:miter lim="400000"/>
                    </a:lnR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0.4250</a:t>
                      </a:r>
                    </a:p>
                  </a:txBody>
                  <a:tcPr marL="68580" marR="68580" marT="0" marB="0">
                    <a:lnL w="12700">
                      <a:miter lim="400000"/>
                    </a:lnL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0.9049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0.4421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0.5965</a:t>
                      </a:r>
                    </a:p>
                  </a:txBody>
                  <a:tcPr marL="63500" marR="63500" marT="63500" marB="63500">
                    <a:lnT w="6350">
                      <a:solidFill>
                        <a:schemeClr val="accent2"/>
                      </a:solidFill>
                      <a:miter/>
                    </a:lnT>
                    <a:lnB w="6350">
                      <a:solidFill>
                        <a:schemeClr val="accent2"/>
                      </a:solidFill>
                      <a:miter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90" name="Picture 4" descr="Picture 4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10653310" y="0"/>
            <a:ext cx="1538691" cy="1125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itle 1"/>
          <p:cNvSpPr txBox="1">
            <a:spLocks noGrp="1"/>
          </p:cNvSpPr>
          <p:nvPr>
            <p:ph type="title"/>
          </p:nvPr>
        </p:nvSpPr>
        <p:spPr>
          <a:xfrm>
            <a:off x="550862" y="550801"/>
            <a:ext cx="11090276" cy="123736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Model Performance - Visualization</a:t>
            </a:r>
            <a:endParaRPr dirty="0"/>
          </a:p>
        </p:txBody>
      </p:sp>
      <p:sp>
        <p:nvSpPr>
          <p:cNvPr id="393" name="Content Placeholder 7"/>
          <p:cNvSpPr txBox="1">
            <a:spLocks noGrp="1"/>
          </p:cNvSpPr>
          <p:nvPr>
            <p:ph type="body" sz="quarter" idx="1"/>
          </p:nvPr>
        </p:nvSpPr>
        <p:spPr>
          <a:xfrm>
            <a:off x="550862" y="1554156"/>
            <a:ext cx="2921001" cy="4297680"/>
          </a:xfrm>
          <a:prstGeom prst="rect">
            <a:avLst/>
          </a:prstGeom>
        </p:spPr>
        <p:txBody>
          <a:bodyPr/>
          <a:lstStyle/>
          <a:p>
            <a:pPr algn="ctr" defTabSz="896111">
              <a:lnSpc>
                <a:spcPct val="88000"/>
              </a:lnSpc>
              <a:spcBef>
                <a:spcPts val="900"/>
              </a:spcBef>
              <a:defRPr sz="1960" b="1"/>
            </a:pPr>
            <a:r>
              <a:rPr lang="en-US" dirty="0"/>
              <a:t>Insight</a:t>
            </a:r>
            <a:r>
              <a:rPr dirty="0"/>
              <a:t>: </a:t>
            </a:r>
            <a:endParaRPr lang="en-US" dirty="0"/>
          </a:p>
          <a:p>
            <a:pPr algn="just" defTabSz="896111">
              <a:lnSpc>
                <a:spcPct val="88000"/>
              </a:lnSpc>
              <a:spcBef>
                <a:spcPts val="900"/>
              </a:spcBef>
              <a:defRPr sz="1960" b="1"/>
            </a:pPr>
            <a:endParaRPr sz="1470" dirty="0"/>
          </a:p>
          <a:p>
            <a:pPr algn="just" defTabSz="896111">
              <a:lnSpc>
                <a:spcPct val="88000"/>
              </a:lnSpc>
              <a:spcBef>
                <a:spcPts val="900"/>
              </a:spcBef>
              <a:defRPr sz="1960"/>
            </a:pPr>
            <a:r>
              <a:rPr lang="en-IN" dirty="0">
                <a:latin typeface="+mn-lt"/>
              </a:rPr>
              <a:t>As the threshold increases, precision improves but recall drops. The model performs best at a </a:t>
            </a:r>
            <a:r>
              <a:rPr lang="en-IN" b="1" dirty="0">
                <a:latin typeface="+mn-lt"/>
              </a:rPr>
              <a:t>0.30–0.40 threshold</a:t>
            </a:r>
            <a:r>
              <a:rPr lang="en-IN" dirty="0">
                <a:latin typeface="+mn-lt"/>
              </a:rPr>
              <a:t>, where precision and recall are balanced — giving the highest F1 score and most reliable text segmentation for invoices.</a:t>
            </a:r>
            <a:endParaRPr dirty="0">
              <a:latin typeface="+mn-lt"/>
            </a:endParaRPr>
          </a:p>
        </p:txBody>
      </p:sp>
      <p:pic>
        <p:nvPicPr>
          <p:cNvPr id="396" name="Picture 2" descr="Picture 2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10653310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DD9C40-2BAD-F0AF-7406-D049CD1C0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75" y="1554156"/>
            <a:ext cx="7772400" cy="46634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itle 1"/>
          <p:cNvSpPr txBox="1">
            <a:spLocks noGrp="1"/>
          </p:cNvSpPr>
          <p:nvPr>
            <p:ph type="title"/>
          </p:nvPr>
        </p:nvSpPr>
        <p:spPr>
          <a:xfrm>
            <a:off x="1876353" y="99609"/>
            <a:ext cx="7830457" cy="926455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Results</a:t>
            </a:r>
          </a:p>
        </p:txBody>
      </p:sp>
      <p:sp>
        <p:nvSpPr>
          <p:cNvPr id="399" name="Content Placeholder 7"/>
          <p:cNvSpPr txBox="1">
            <a:spLocks noGrp="1"/>
          </p:cNvSpPr>
          <p:nvPr>
            <p:ph type="body" sz="quarter" idx="1"/>
          </p:nvPr>
        </p:nvSpPr>
        <p:spPr>
          <a:xfrm>
            <a:off x="339342" y="4841659"/>
            <a:ext cx="5027880" cy="133395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defTabSz="905255">
              <a:spcBef>
                <a:spcPts val="900"/>
              </a:spcBef>
              <a:defRPr sz="1782"/>
            </a:pPr>
            <a:r>
              <a:rPr lang="en-IN" sz="1600" dirty="0"/>
              <a:t>A validation sample showing input image (top-left), ground-truth mask (top-right), predicted probability map (bottom-left), and final prediction overlay (bottom-right). The model correctly highlights major text blocks and fine-grained text areas. </a:t>
            </a:r>
          </a:p>
          <a:p>
            <a:pPr defTabSz="905255">
              <a:spcBef>
                <a:spcPts val="900"/>
              </a:spcBef>
              <a:defRPr sz="1782"/>
            </a:pPr>
            <a:endParaRPr lang="en-IN" dirty="0"/>
          </a:p>
          <a:p>
            <a:pPr defTabSz="905255">
              <a:spcBef>
                <a:spcPts val="900"/>
              </a:spcBef>
              <a:defRPr sz="1782"/>
            </a:pPr>
            <a:endParaRPr lang="en-IN" dirty="0"/>
          </a:p>
        </p:txBody>
      </p:sp>
      <p:pic>
        <p:nvPicPr>
          <p:cNvPr id="402" name="Picture 2" descr="Picture 2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10653310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067C9A4-77DB-83B3-B5A3-EAEC69C0FCD6}"/>
              </a:ext>
            </a:extLst>
          </p:cNvPr>
          <p:cNvGrpSpPr/>
          <p:nvPr/>
        </p:nvGrpSpPr>
        <p:grpSpPr>
          <a:xfrm>
            <a:off x="1125302" y="1125675"/>
            <a:ext cx="3455959" cy="3455710"/>
            <a:chOff x="5230841" y="817900"/>
            <a:chExt cx="3455959" cy="3455710"/>
          </a:xfrm>
        </p:grpSpPr>
        <p:pic>
          <p:nvPicPr>
            <p:cNvPr id="2" name="Picture 1" descr="A collage of images of a receipt&#10;&#10;AI-generated content may be incorrect.">
              <a:extLst>
                <a:ext uri="{FF2B5EF4-FFF2-40B4-BE49-F238E27FC236}">
                  <a16:creationId xmlns:a16="http://schemas.microsoft.com/office/drawing/2014/main" id="{82E11509-4880-ED8F-38CF-5B70B5F8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0841" y="1125675"/>
              <a:ext cx="3455959" cy="314793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6DCBE7-ECAB-99D9-F405-FD65870DE81A}"/>
                </a:ext>
              </a:extLst>
            </p:cNvPr>
            <p:cNvSpPr txBox="1"/>
            <p:nvPr/>
          </p:nvSpPr>
          <p:spPr>
            <a:xfrm>
              <a:off x="5623038" y="817900"/>
              <a:ext cx="2671563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r>
                <a:rPr lang="en-IN" sz="1400" dirty="0">
                  <a:solidFill>
                    <a:srgbClr val="FFFFFF"/>
                  </a:solidFill>
                </a:rPr>
                <a:t>Prediction</a:t>
              </a:r>
              <a:r>
                <a:rPr lang="en-IN" sz="1400" i="1" dirty="0"/>
                <a:t> </a:t>
              </a:r>
              <a:r>
                <a:rPr lang="en-IN" sz="1400" dirty="0">
                  <a:solidFill>
                    <a:srgbClr val="FFFFFF"/>
                  </a:solidFill>
                </a:rPr>
                <a:t>Heatmaps and Overlays </a:t>
              </a:r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1BB073C-4DE4-1BEA-3506-CB126D3929D5}"/>
              </a:ext>
            </a:extLst>
          </p:cNvPr>
          <p:cNvGrpSpPr/>
          <p:nvPr/>
        </p:nvGrpSpPr>
        <p:grpSpPr>
          <a:xfrm>
            <a:off x="6487886" y="1148001"/>
            <a:ext cx="2924838" cy="5176955"/>
            <a:chOff x="6874481" y="638837"/>
            <a:chExt cx="2924838" cy="5176955"/>
          </a:xfrm>
        </p:grpSpPr>
        <p:pic>
          <p:nvPicPr>
            <p:cNvPr id="5" name="Picture 4" descr="A receipt with green text&#10;&#10;AI-generated content may be incorrect.">
              <a:extLst>
                <a:ext uri="{FF2B5EF4-FFF2-40B4-BE49-F238E27FC236}">
                  <a16:creationId xmlns:a16="http://schemas.microsoft.com/office/drawing/2014/main" id="{0511653F-17BD-4744-06D8-42EB29D12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6895" y="946612"/>
              <a:ext cx="2620010" cy="48691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3F22D6-313A-8FA2-501C-B9013227D8B8}"/>
                </a:ext>
              </a:extLst>
            </p:cNvPr>
            <p:cNvSpPr txBox="1"/>
            <p:nvPr/>
          </p:nvSpPr>
          <p:spPr>
            <a:xfrm>
              <a:off x="6874481" y="638837"/>
              <a:ext cx="2924838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r>
                <a:rPr lang="en-IN" sz="1400" dirty="0">
                  <a:solidFill>
                    <a:srgbClr val="FFFFFF"/>
                  </a:solidFill>
                </a:rPr>
                <a:t>Bounding-Box Visualization with OCR </a:t>
              </a:r>
              <a:endParaRPr lang="en-US" sz="1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A82EBE-E4FF-C997-72D1-396EF5AB31CE}"/>
              </a:ext>
            </a:extLst>
          </p:cNvPr>
          <p:cNvSpPr txBox="1">
            <a:spLocks/>
          </p:cNvSpPr>
          <p:nvPr/>
        </p:nvSpPr>
        <p:spPr>
          <a:xfrm>
            <a:off x="9478642" y="3512127"/>
            <a:ext cx="2349335" cy="2895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85000" lnSpcReduction="10000"/>
          </a:bodyPr>
          <a:lstStyle>
            <a:lvl1pPr marL="0" marR="0" indent="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FFFFFF"/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1pPr>
            <a:lvl2pPr marL="800100" marR="0" indent="-3429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FFFFFF"/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2pPr>
            <a:lvl3pPr marL="1257300" marR="0" indent="-3429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FFFFFF"/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3pPr>
            <a:lvl4pPr marL="1714500" marR="0" indent="-3429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FFFFFF"/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4pPr>
            <a:lvl5pPr marL="2171700" marR="0" indent="-3429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FFFFFF"/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5pPr>
            <a:lvl6pPr marL="2590800" marR="0" indent="-3048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400" b="0" i="0" u="none" strike="noStrike" cap="none" spc="0" baseline="0">
                <a:solidFill>
                  <a:srgbClr val="FFFFFF">
                    <a:alpha val="60000"/>
                  </a:srgbClr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6pPr>
            <a:lvl7pPr marL="3048000" marR="0" indent="-3048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400" b="0" i="0" u="none" strike="noStrike" cap="none" spc="0" baseline="0">
                <a:solidFill>
                  <a:srgbClr val="FFFFFF">
                    <a:alpha val="60000"/>
                  </a:srgbClr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7pPr>
            <a:lvl8pPr marL="3505200" marR="0" indent="-3048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400" b="0" i="0" u="none" strike="noStrike" cap="none" spc="0" baseline="0">
                <a:solidFill>
                  <a:srgbClr val="FFFFFF">
                    <a:alpha val="60000"/>
                  </a:srgbClr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8pPr>
            <a:lvl9pPr marL="3962400" marR="0" indent="-304800" algn="l" defTabSz="914400" rtl="0" latinLnBrk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400" b="0" i="0" u="none" strike="noStrike" cap="none" spc="0" baseline="0">
                <a:solidFill>
                  <a:srgbClr val="FFFFFF">
                    <a:alpha val="60000"/>
                  </a:srgbClr>
                </a:solidFill>
                <a:uFillTx/>
                <a:latin typeface="Gill Sans MT"/>
                <a:ea typeface="Gill Sans MT"/>
                <a:cs typeface="Gill Sans MT"/>
                <a:sym typeface="Gill Sans MT"/>
              </a:defRPr>
            </a:lvl9pPr>
          </a:lstStyle>
          <a:p>
            <a:r>
              <a:rPr lang="en-IN" dirty="0"/>
              <a:t>Results demonstrate that segmentation-based text detection significantly outperforms bounding-box approaches for invoices and receipts. The model achieved strong </a:t>
            </a:r>
            <a:r>
              <a:rPr lang="en-IN" dirty="0" err="1"/>
              <a:t>IoU</a:t>
            </a:r>
            <a:r>
              <a:rPr lang="en-IN" dirty="0"/>
              <a:t> and F1 scores despite noise and inconsistent OCR polygons. Threshold sweep analysis confirms robustness and adaptability for operational deployment.</a:t>
            </a:r>
          </a:p>
          <a:p>
            <a:pPr defTabSz="905255" hangingPunct="1">
              <a:spcBef>
                <a:spcPts val="900"/>
              </a:spcBef>
              <a:defRPr sz="1782"/>
            </a:pPr>
            <a:endParaRPr lang="en-IN" sz="1782" dirty="0"/>
          </a:p>
          <a:p>
            <a:pPr defTabSz="905255" hangingPunct="1">
              <a:spcBef>
                <a:spcPts val="900"/>
              </a:spcBef>
              <a:defRPr sz="1782"/>
            </a:pPr>
            <a:endParaRPr lang="en-IN" sz="1782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25999C-3C21-A67C-8D97-42E2B07044E8}"/>
              </a:ext>
            </a:extLst>
          </p:cNvPr>
          <p:cNvCxnSpPr/>
          <p:nvPr/>
        </p:nvCxnSpPr>
        <p:spPr>
          <a:xfrm>
            <a:off x="5791581" y="1301888"/>
            <a:ext cx="0" cy="5023068"/>
          </a:xfrm>
          <a:prstGeom prst="line">
            <a:avLst/>
          </a:prstGeom>
          <a:ln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roup 9"/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404" name="Freeform: Shape 10"/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5" name="Oval 11"/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6" name="Oval 12"/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7" name="Freeform: Shape 13"/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09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0" name="Title 1"/>
          <p:cNvSpPr txBox="1">
            <a:spLocks noGrp="1"/>
          </p:cNvSpPr>
          <p:nvPr>
            <p:ph type="title"/>
          </p:nvPr>
        </p:nvSpPr>
        <p:spPr>
          <a:xfrm>
            <a:off x="550862" y="550800"/>
            <a:ext cx="7308851" cy="98640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rPr dirty="0"/>
              <a:t>Discussion &amp; Insights</a:t>
            </a:r>
          </a:p>
        </p:txBody>
      </p:sp>
      <p:sp>
        <p:nvSpPr>
          <p:cNvPr id="411" name="Rectangle 17"/>
          <p:cNvSpPr/>
          <p:nvPr/>
        </p:nvSpPr>
        <p:spPr>
          <a:xfrm>
            <a:off x="0" y="2083435"/>
            <a:ext cx="12192000" cy="4774565"/>
          </a:xfrm>
          <a:prstGeom prst="rect">
            <a:avLst/>
          </a:prstGeom>
          <a:solidFill>
            <a:srgbClr val="E4E3F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12" name="Picture 3" descr="Picture 3"/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10653310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25" name="Content Placeholder 2"/>
          <p:cNvGrpSpPr/>
          <p:nvPr/>
        </p:nvGrpSpPr>
        <p:grpSpPr>
          <a:xfrm>
            <a:off x="550863" y="3203530"/>
            <a:ext cx="11090278" cy="2309899"/>
            <a:chOff x="0" y="0"/>
            <a:chExt cx="11090277" cy="2309897"/>
          </a:xfrm>
        </p:grpSpPr>
        <p:sp>
          <p:nvSpPr>
            <p:cNvPr id="413" name="Rounded Rectangle"/>
            <p:cNvSpPr/>
            <p:nvPr/>
          </p:nvSpPr>
          <p:spPr>
            <a:xfrm>
              <a:off x="0" y="0"/>
              <a:ext cx="3119141" cy="1980653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416" name="Group"/>
            <p:cNvGrpSpPr/>
            <p:nvPr/>
          </p:nvGrpSpPr>
          <p:grpSpPr>
            <a:xfrm>
              <a:off x="346570" y="329243"/>
              <a:ext cx="3119143" cy="1980654"/>
              <a:chOff x="0" y="0"/>
              <a:chExt cx="3119141" cy="1980653"/>
            </a:xfrm>
          </p:grpSpPr>
          <p:sp>
            <p:nvSpPr>
              <p:cNvPr id="414" name="Rounded Rectangle"/>
              <p:cNvSpPr/>
              <p:nvPr/>
            </p:nvSpPr>
            <p:spPr>
              <a:xfrm>
                <a:off x="0" y="0"/>
                <a:ext cx="3119141" cy="198065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15" name="Models capture quality/timing but variance limits precision."/>
              <p:cNvSpPr txBox="1"/>
              <p:nvPr/>
            </p:nvSpPr>
            <p:spPr>
              <a:xfrm>
                <a:off x="58010" y="618687"/>
                <a:ext cx="3003120" cy="7432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/>
                </a:lvl1pPr>
              </a:lstStyle>
              <a:p>
                <a:r>
                  <a:rPr dirty="0"/>
                  <a:t>Models </a:t>
                </a:r>
                <a:r>
                  <a:rPr lang="en-US" dirty="0"/>
                  <a:t>learns text structure well!</a:t>
                </a:r>
                <a:r>
                  <a:rPr dirty="0"/>
                  <a:t> </a:t>
                </a:r>
              </a:p>
            </p:txBody>
          </p:sp>
        </p:grpSp>
        <p:sp>
          <p:nvSpPr>
            <p:cNvPr id="417" name="Rounded Rectangle"/>
            <p:cNvSpPr/>
            <p:nvPr/>
          </p:nvSpPr>
          <p:spPr>
            <a:xfrm>
              <a:off x="3812282" y="0"/>
              <a:ext cx="3119141" cy="1980653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420" name="Group"/>
            <p:cNvGrpSpPr/>
            <p:nvPr/>
          </p:nvGrpSpPr>
          <p:grpSpPr>
            <a:xfrm>
              <a:off x="4158853" y="329243"/>
              <a:ext cx="3119142" cy="1980654"/>
              <a:chOff x="0" y="0"/>
              <a:chExt cx="3119141" cy="1980653"/>
            </a:xfrm>
          </p:grpSpPr>
          <p:sp>
            <p:nvSpPr>
              <p:cNvPr id="418" name="Rounded Rectangle"/>
              <p:cNvSpPr/>
              <p:nvPr/>
            </p:nvSpPr>
            <p:spPr>
              <a:xfrm>
                <a:off x="0" y="0"/>
                <a:ext cx="3119141" cy="198065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19" name="Recommendations: Shorter titles, positive sentiment, avoid weekends. Business/Entertainment channels best."/>
              <p:cNvSpPr txBox="1"/>
              <p:nvPr/>
            </p:nvSpPr>
            <p:spPr>
              <a:xfrm>
                <a:off x="58010" y="473263"/>
                <a:ext cx="3003119" cy="10341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/>
                </a:lvl1pPr>
              </a:lstStyle>
              <a:p>
                <a:r>
                  <a:rPr dirty="0"/>
                  <a:t>Recommendations: </a:t>
                </a:r>
                <a:r>
                  <a:rPr lang="en-US" dirty="0"/>
                  <a:t>Use Threshold ~ 0.50 for optimal recall + precision</a:t>
                </a:r>
                <a:endParaRPr dirty="0"/>
              </a:p>
            </p:txBody>
          </p:sp>
        </p:grpSp>
        <p:sp>
          <p:nvSpPr>
            <p:cNvPr id="421" name="Rounded Rectangle"/>
            <p:cNvSpPr/>
            <p:nvPr/>
          </p:nvSpPr>
          <p:spPr>
            <a:xfrm>
              <a:off x="7624564" y="0"/>
              <a:ext cx="3119141" cy="1980653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1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424" name="Group"/>
            <p:cNvGrpSpPr/>
            <p:nvPr/>
          </p:nvGrpSpPr>
          <p:grpSpPr>
            <a:xfrm>
              <a:off x="7971135" y="329243"/>
              <a:ext cx="3119142" cy="1980654"/>
              <a:chOff x="0" y="0"/>
              <a:chExt cx="3119141" cy="1980653"/>
            </a:xfrm>
          </p:grpSpPr>
          <p:sp>
            <p:nvSpPr>
              <p:cNvPr id="422" name="Rounded Rectangle"/>
              <p:cNvSpPr/>
              <p:nvPr/>
            </p:nvSpPr>
            <p:spPr>
              <a:xfrm>
                <a:off x="0" y="0"/>
                <a:ext cx="3119141" cy="198065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23" name="Accomplishments: &gt;50% accuracy; actionable insights; multi-algorithm comparison."/>
              <p:cNvSpPr txBox="1"/>
              <p:nvPr/>
            </p:nvSpPr>
            <p:spPr>
              <a:xfrm>
                <a:off x="58011" y="473261"/>
                <a:ext cx="3003119" cy="10341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010101"/>
                    </a:solidFill>
                  </a:defRPr>
                </a:lvl1pPr>
              </a:lstStyle>
              <a:p>
                <a:r>
                  <a:rPr lang="en-IN" dirty="0"/>
                  <a:t>F1 ≈ </a:t>
                </a:r>
                <a:r>
                  <a:rPr lang="en-IN" b="1" dirty="0"/>
                  <a:t>0.83</a:t>
                </a:r>
                <a:r>
                  <a:rPr lang="en-IN" dirty="0"/>
                  <a:t> and </a:t>
                </a:r>
                <a:r>
                  <a:rPr lang="en-IN" dirty="0" err="1"/>
                  <a:t>IoU</a:t>
                </a:r>
                <a:r>
                  <a:rPr lang="en-IN" dirty="0"/>
                  <a:t> ≈ </a:t>
                </a:r>
                <a:r>
                  <a:rPr lang="en-IN" b="1" dirty="0"/>
                  <a:t>0.71</a:t>
                </a:r>
                <a:r>
                  <a:rPr lang="en-IN" dirty="0"/>
                  <a:t> show the model is production-feasible.</a:t>
                </a:r>
                <a:endParaRPr dirty="0"/>
              </a:p>
            </p:txBody>
          </p:sp>
        </p:grpSp>
      </p:grp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F7858-5A1B-5416-03D1-9E31826C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roup 9">
            <a:extLst>
              <a:ext uri="{FF2B5EF4-FFF2-40B4-BE49-F238E27FC236}">
                <a16:creationId xmlns:a16="http://schemas.microsoft.com/office/drawing/2014/main" id="{FB9DFC95-F457-BAE7-A3F6-3EA36F347139}"/>
              </a:ext>
            </a:extLst>
          </p:cNvPr>
          <p:cNvGrpSpPr/>
          <p:nvPr/>
        </p:nvGrpSpPr>
        <p:grpSpPr>
          <a:xfrm>
            <a:off x="363888" y="5322559"/>
            <a:ext cx="1030305" cy="1030306"/>
            <a:chOff x="0" y="0"/>
            <a:chExt cx="1030304" cy="1030304"/>
          </a:xfrm>
        </p:grpSpPr>
        <p:sp>
          <p:nvSpPr>
            <p:cNvPr id="404" name="Freeform: Shape 10">
              <a:extLst>
                <a:ext uri="{FF2B5EF4-FFF2-40B4-BE49-F238E27FC236}">
                  <a16:creationId xmlns:a16="http://schemas.microsoft.com/office/drawing/2014/main" id="{E0DDBABD-A56A-ED53-6659-9BFEA585C103}"/>
                </a:ext>
              </a:extLst>
            </p:cNvPr>
            <p:cNvSpPr/>
            <p:nvPr/>
          </p:nvSpPr>
          <p:spPr>
            <a:xfrm rot="13500000">
              <a:off x="28116" y="306949"/>
              <a:ext cx="926986" cy="463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1B192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5" name="Oval 11">
              <a:extLst>
                <a:ext uri="{FF2B5EF4-FFF2-40B4-BE49-F238E27FC236}">
                  <a16:creationId xmlns:a16="http://schemas.microsoft.com/office/drawing/2014/main" id="{2F96BC2B-6F00-8A6C-E46E-8C1675C42656}"/>
                </a:ext>
              </a:extLst>
            </p:cNvPr>
            <p:cNvSpPr/>
            <p:nvPr/>
          </p:nvSpPr>
          <p:spPr>
            <a:xfrm rot="18900000">
              <a:off x="874696" y="502700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6" name="Oval 12">
              <a:extLst>
                <a:ext uri="{FF2B5EF4-FFF2-40B4-BE49-F238E27FC236}">
                  <a16:creationId xmlns:a16="http://schemas.microsoft.com/office/drawing/2014/main" id="{10FEDDB5-6BC2-6627-6032-004466A90A33}"/>
                </a:ext>
              </a:extLst>
            </p:cNvPr>
            <p:cNvSpPr/>
            <p:nvPr/>
          </p:nvSpPr>
          <p:spPr>
            <a:xfrm rot="18900000">
              <a:off x="384183" y="12187"/>
              <a:ext cx="53551" cy="233297"/>
            </a:xfrm>
            <a:prstGeom prst="ellipse">
              <a:avLst/>
            </a:prstGeom>
            <a:solidFill>
              <a:srgbClr val="2C284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7" name="Freeform: Shape 13">
              <a:extLst>
                <a:ext uri="{FF2B5EF4-FFF2-40B4-BE49-F238E27FC236}">
                  <a16:creationId xmlns:a16="http://schemas.microsoft.com/office/drawing/2014/main" id="{2620E825-2A2B-3390-69F9-270C940D8D9C}"/>
                </a:ext>
              </a:extLst>
            </p:cNvPr>
            <p:cNvSpPr/>
            <p:nvPr/>
          </p:nvSpPr>
          <p:spPr>
            <a:xfrm rot="13500000">
              <a:off x="51659" y="250109"/>
              <a:ext cx="926986" cy="530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6765" y="0"/>
                    <a:pt x="21600" y="9671"/>
                    <a:pt x="21600" y="21600"/>
                  </a:cubicBezTo>
                  <a:lnTo>
                    <a:pt x="16200" y="21600"/>
                  </a:lnTo>
                  <a:cubicBezTo>
                    <a:pt x="16200" y="15635"/>
                    <a:pt x="13782" y="10800"/>
                    <a:pt x="10800" y="10800"/>
                  </a:cubicBezTo>
                  <a:cubicBezTo>
                    <a:pt x="7818" y="10800"/>
                    <a:pt x="5400" y="15635"/>
                    <a:pt x="5400" y="21600"/>
                  </a:cubicBezTo>
                  <a:lnTo>
                    <a:pt x="0" y="21600"/>
                  </a:lnTo>
                  <a:cubicBezTo>
                    <a:pt x="0" y="9671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7771B2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09" name="Rectangle 15">
            <a:extLst>
              <a:ext uri="{FF2B5EF4-FFF2-40B4-BE49-F238E27FC236}">
                <a16:creationId xmlns:a16="http://schemas.microsoft.com/office/drawing/2014/main" id="{0FBC14B8-752A-BEE1-AD9B-96BDABA4A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9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0" name="Title 1">
            <a:extLst>
              <a:ext uri="{FF2B5EF4-FFF2-40B4-BE49-F238E27FC236}">
                <a16:creationId xmlns:a16="http://schemas.microsoft.com/office/drawing/2014/main" id="{01BD5278-C1BE-0E57-B52E-814402047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2" y="550800"/>
            <a:ext cx="7308851" cy="98640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rPr lang="en-US" dirty="0"/>
              <a:t>Future work</a:t>
            </a:r>
            <a:endParaRPr dirty="0"/>
          </a:p>
        </p:txBody>
      </p:sp>
      <p:sp>
        <p:nvSpPr>
          <p:cNvPr id="411" name="Rectangle 17">
            <a:extLst>
              <a:ext uri="{FF2B5EF4-FFF2-40B4-BE49-F238E27FC236}">
                <a16:creationId xmlns:a16="http://schemas.microsoft.com/office/drawing/2014/main" id="{C7838694-5C83-8405-2D73-962761CFE073}"/>
              </a:ext>
            </a:extLst>
          </p:cNvPr>
          <p:cNvSpPr/>
          <p:nvPr/>
        </p:nvSpPr>
        <p:spPr>
          <a:xfrm>
            <a:off x="0" y="2083435"/>
            <a:ext cx="12192000" cy="4774565"/>
          </a:xfrm>
          <a:prstGeom prst="rect">
            <a:avLst/>
          </a:prstGeom>
          <a:solidFill>
            <a:srgbClr val="E4E3F0">
              <a:alpha val="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12" name="Picture 3" descr="Picture 3">
            <a:extLst>
              <a:ext uri="{FF2B5EF4-FFF2-40B4-BE49-F238E27FC236}">
                <a16:creationId xmlns:a16="http://schemas.microsoft.com/office/drawing/2014/main" id="{E51580F1-1FB4-1766-9597-9556FAB4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11" t="7261"/>
          <a:stretch>
            <a:fillRect/>
          </a:stretch>
        </p:blipFill>
        <p:spPr>
          <a:xfrm>
            <a:off x="10653310" y="0"/>
            <a:ext cx="1538691" cy="11256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25" name="Content Placeholder 2">
            <a:extLst>
              <a:ext uri="{FF2B5EF4-FFF2-40B4-BE49-F238E27FC236}">
                <a16:creationId xmlns:a16="http://schemas.microsoft.com/office/drawing/2014/main" id="{98585A22-DFDE-DFBD-B009-93BCCB51AD92}"/>
              </a:ext>
            </a:extLst>
          </p:cNvPr>
          <p:cNvGrpSpPr/>
          <p:nvPr/>
        </p:nvGrpSpPr>
        <p:grpSpPr>
          <a:xfrm>
            <a:off x="774846" y="3171933"/>
            <a:ext cx="10743708" cy="1980656"/>
            <a:chOff x="346570" y="329243"/>
            <a:chExt cx="10743707" cy="1980654"/>
          </a:xfrm>
        </p:grpSpPr>
        <p:grpSp>
          <p:nvGrpSpPr>
            <p:cNvPr id="416" name="Group">
              <a:extLst>
                <a:ext uri="{FF2B5EF4-FFF2-40B4-BE49-F238E27FC236}">
                  <a16:creationId xmlns:a16="http://schemas.microsoft.com/office/drawing/2014/main" id="{3017114B-13D0-70B7-03C2-0AD8009ABA4F}"/>
                </a:ext>
              </a:extLst>
            </p:cNvPr>
            <p:cNvGrpSpPr/>
            <p:nvPr/>
          </p:nvGrpSpPr>
          <p:grpSpPr>
            <a:xfrm>
              <a:off x="346570" y="329243"/>
              <a:ext cx="3119143" cy="1980654"/>
              <a:chOff x="0" y="0"/>
              <a:chExt cx="3119141" cy="1980653"/>
            </a:xfrm>
          </p:grpSpPr>
          <p:sp>
            <p:nvSpPr>
              <p:cNvPr id="414" name="Rounded Rectangle">
                <a:extLst>
                  <a:ext uri="{FF2B5EF4-FFF2-40B4-BE49-F238E27FC236}">
                    <a16:creationId xmlns:a16="http://schemas.microsoft.com/office/drawing/2014/main" id="{65B249FF-9A64-4C9B-4715-CF8BD31EE7A1}"/>
                  </a:ext>
                </a:extLst>
              </p:cNvPr>
              <p:cNvSpPr/>
              <p:nvPr/>
            </p:nvSpPr>
            <p:spPr>
              <a:xfrm>
                <a:off x="0" y="0"/>
                <a:ext cx="3119141" cy="198065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15" name="Models capture quality/timing but variance limits precision.">
                <a:extLst>
                  <a:ext uri="{FF2B5EF4-FFF2-40B4-BE49-F238E27FC236}">
                    <a16:creationId xmlns:a16="http://schemas.microsoft.com/office/drawing/2014/main" id="{E68910E1-201F-D7A4-4BE5-CEF1BFBC582B}"/>
                  </a:ext>
                </a:extLst>
              </p:cNvPr>
              <p:cNvSpPr txBox="1"/>
              <p:nvPr/>
            </p:nvSpPr>
            <p:spPr>
              <a:xfrm>
                <a:off x="58010" y="182416"/>
                <a:ext cx="3003120" cy="161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/>
                </a:lvl1pPr>
              </a:lstStyle>
              <a:p>
                <a:r>
                  <a:rPr lang="en-US" dirty="0"/>
                  <a:t>Feed detected text regions into an OCR engine to convert masks into actual English text for NLP engine</a:t>
                </a:r>
                <a:endParaRPr dirty="0"/>
              </a:p>
            </p:txBody>
          </p:sp>
        </p:grpSp>
        <p:grpSp>
          <p:nvGrpSpPr>
            <p:cNvPr id="420" name="Group">
              <a:extLst>
                <a:ext uri="{FF2B5EF4-FFF2-40B4-BE49-F238E27FC236}">
                  <a16:creationId xmlns:a16="http://schemas.microsoft.com/office/drawing/2014/main" id="{EE468268-B3F2-9BE6-63F5-A30D9365274A}"/>
                </a:ext>
              </a:extLst>
            </p:cNvPr>
            <p:cNvGrpSpPr/>
            <p:nvPr/>
          </p:nvGrpSpPr>
          <p:grpSpPr>
            <a:xfrm>
              <a:off x="4158853" y="329243"/>
              <a:ext cx="3119142" cy="1980654"/>
              <a:chOff x="0" y="0"/>
              <a:chExt cx="3119141" cy="1980653"/>
            </a:xfrm>
          </p:grpSpPr>
          <p:sp>
            <p:nvSpPr>
              <p:cNvPr id="418" name="Rounded Rectangle">
                <a:extLst>
                  <a:ext uri="{FF2B5EF4-FFF2-40B4-BE49-F238E27FC236}">
                    <a16:creationId xmlns:a16="http://schemas.microsoft.com/office/drawing/2014/main" id="{157B4E76-B84C-007D-A908-67935B567A72}"/>
                  </a:ext>
                </a:extLst>
              </p:cNvPr>
              <p:cNvSpPr/>
              <p:nvPr/>
            </p:nvSpPr>
            <p:spPr>
              <a:xfrm>
                <a:off x="0" y="0"/>
                <a:ext cx="3119141" cy="198065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19" name="Recommendations: Shorter titles, positive sentiment, avoid weekends. Business/Entertainment channels best.">
                <a:extLst>
                  <a:ext uri="{FF2B5EF4-FFF2-40B4-BE49-F238E27FC236}">
                    <a16:creationId xmlns:a16="http://schemas.microsoft.com/office/drawing/2014/main" id="{EC595E23-2F1D-46FE-CE4A-41D1CF460FFE}"/>
                  </a:ext>
                </a:extLst>
              </p:cNvPr>
              <p:cNvSpPr txBox="1"/>
              <p:nvPr/>
            </p:nvSpPr>
            <p:spPr>
              <a:xfrm>
                <a:off x="58010" y="182416"/>
                <a:ext cx="3003119" cy="16158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/>
                </a:lvl1pPr>
              </a:lstStyle>
              <a:p>
                <a:r>
                  <a:rPr lang="en-US" dirty="0"/>
                  <a:t>Extract Key fields from the text such as “vendor name, invoice number, date, line items, tax, total amount”</a:t>
                </a:r>
                <a:endParaRPr dirty="0"/>
              </a:p>
            </p:txBody>
          </p:sp>
        </p:grpSp>
        <p:grpSp>
          <p:nvGrpSpPr>
            <p:cNvPr id="424" name="Group">
              <a:extLst>
                <a:ext uri="{FF2B5EF4-FFF2-40B4-BE49-F238E27FC236}">
                  <a16:creationId xmlns:a16="http://schemas.microsoft.com/office/drawing/2014/main" id="{78FDB0CE-4B9A-27F0-0959-EB81D731B549}"/>
                </a:ext>
              </a:extLst>
            </p:cNvPr>
            <p:cNvGrpSpPr/>
            <p:nvPr/>
          </p:nvGrpSpPr>
          <p:grpSpPr>
            <a:xfrm>
              <a:off x="7971135" y="329243"/>
              <a:ext cx="3119142" cy="1980654"/>
              <a:chOff x="0" y="0"/>
              <a:chExt cx="3119141" cy="1980653"/>
            </a:xfrm>
          </p:grpSpPr>
          <p:sp>
            <p:nvSpPr>
              <p:cNvPr id="422" name="Rounded Rectangle">
                <a:extLst>
                  <a:ext uri="{FF2B5EF4-FFF2-40B4-BE49-F238E27FC236}">
                    <a16:creationId xmlns:a16="http://schemas.microsoft.com/office/drawing/2014/main" id="{2945D4D9-CEF7-FEA6-4FDE-AE2D3BB47E62}"/>
                  </a:ext>
                </a:extLst>
              </p:cNvPr>
              <p:cNvSpPr/>
              <p:nvPr/>
            </p:nvSpPr>
            <p:spPr>
              <a:xfrm>
                <a:off x="0" y="0"/>
                <a:ext cx="3119141" cy="1980653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933450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23" name="Accomplishments: &gt;50% accuracy; actionable insights; multi-algorithm comparison.">
                <a:extLst>
                  <a:ext uri="{FF2B5EF4-FFF2-40B4-BE49-F238E27FC236}">
                    <a16:creationId xmlns:a16="http://schemas.microsoft.com/office/drawing/2014/main" id="{B90CF649-F1B3-6942-B26D-F6B4430D2B7E}"/>
                  </a:ext>
                </a:extLst>
              </p:cNvPr>
              <p:cNvSpPr txBox="1"/>
              <p:nvPr/>
            </p:nvSpPr>
            <p:spPr>
              <a:xfrm>
                <a:off x="58011" y="618686"/>
                <a:ext cx="3003119" cy="7432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80010" tIns="80010" rIns="80010" bIns="80010" numCol="1" anchor="ctr">
                <a:spAutoFit/>
              </a:bodyPr>
              <a:lstStyle>
                <a:lvl1pPr algn="ctr" defTabSz="933450">
                  <a:lnSpc>
                    <a:spcPct val="90000"/>
                  </a:lnSpc>
                  <a:spcBef>
                    <a:spcPts val="800"/>
                  </a:spcBef>
                  <a:defRPr sz="2100">
                    <a:solidFill>
                      <a:srgbClr val="010101"/>
                    </a:solidFill>
                  </a:defRPr>
                </a:lvl1pPr>
              </a:lstStyle>
              <a:p>
                <a:r>
                  <a:rPr lang="en-IN" dirty="0"/>
                  <a:t>Semantic understanding using NLP models</a:t>
                </a: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93444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roup 3"/>
          <p:cNvGrpSpPr/>
          <p:nvPr/>
        </p:nvGrpSpPr>
        <p:grpSpPr>
          <a:xfrm>
            <a:off x="4689246" y="551774"/>
            <a:ext cx="897878" cy="934083"/>
            <a:chOff x="0" y="0"/>
            <a:chExt cx="897876" cy="934082"/>
          </a:xfrm>
        </p:grpSpPr>
        <p:sp>
          <p:nvSpPr>
            <p:cNvPr id="427" name="Freeform 5"/>
            <p:cNvSpPr/>
            <p:nvPr/>
          </p:nvSpPr>
          <p:spPr>
            <a:xfrm rot="1800000">
              <a:off x="227245" y="130847"/>
              <a:ext cx="621087" cy="364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40" y="0"/>
                  </a:moveTo>
                  <a:lnTo>
                    <a:pt x="0" y="10766"/>
                  </a:lnTo>
                  <a:lnTo>
                    <a:pt x="10640" y="21600"/>
                  </a:lnTo>
                  <a:lnTo>
                    <a:pt x="21600" y="10766"/>
                  </a:lnTo>
                  <a:lnTo>
                    <a:pt x="1064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8" name="Freeform 6"/>
            <p:cNvSpPr/>
            <p:nvPr/>
          </p:nvSpPr>
          <p:spPr>
            <a:xfrm rot="1800000">
              <a:off x="114074" y="197806"/>
              <a:ext cx="305943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14308"/>
                  </a:lnTo>
                  <a:lnTo>
                    <a:pt x="0" y="0"/>
                  </a:lnTo>
                  <a:lnTo>
                    <a:pt x="21600" y="7338"/>
                  </a:lnTo>
                  <a:lnTo>
                    <a:pt x="21600" y="2160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9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9" name="Freeform 8"/>
            <p:cNvSpPr/>
            <p:nvPr/>
          </p:nvSpPr>
          <p:spPr>
            <a:xfrm rot="1800000">
              <a:off x="378412" y="353078"/>
              <a:ext cx="315145" cy="538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4308"/>
                  </a:lnTo>
                  <a:lnTo>
                    <a:pt x="0" y="21600"/>
                  </a:lnTo>
                  <a:lnTo>
                    <a:pt x="0" y="7338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rgbClr val="2C284A">
                    <a:alpha val="20000"/>
                  </a:srgbClr>
                </a:gs>
                <a:gs pos="100000">
                  <a:srgbClr val="5BEFC1">
                    <a:alpha val="20000"/>
                  </a:srgbClr>
                </a:gs>
              </a:gsLst>
              <a:lin ang="180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just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31" name="Title 1"/>
          <p:cNvSpPr txBox="1">
            <a:spLocks noGrp="1"/>
          </p:cNvSpPr>
          <p:nvPr>
            <p:ph type="title"/>
          </p:nvPr>
        </p:nvSpPr>
        <p:spPr>
          <a:xfrm>
            <a:off x="640143" y="1328284"/>
            <a:ext cx="4583195" cy="732184"/>
          </a:xfrm>
          <a:prstGeom prst="rect">
            <a:avLst/>
          </a:prstGeom>
        </p:spPr>
        <p:txBody>
          <a:bodyPr/>
          <a:lstStyle>
            <a:lvl1pPr algn="just"/>
          </a:lstStyle>
          <a:p>
            <a:pPr algn="ctr"/>
            <a:r>
              <a:rPr dirty="0"/>
              <a:t>Conclusion</a:t>
            </a:r>
          </a:p>
        </p:txBody>
      </p:sp>
      <p:sp>
        <p:nvSpPr>
          <p:cNvPr id="432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557118" y="2227180"/>
            <a:ext cx="4742420" cy="4328035"/>
          </a:xfrm>
          <a:prstGeom prst="rect">
            <a:avLst/>
          </a:prstGeom>
        </p:spPr>
        <p:txBody>
          <a:bodyPr lIns="45719" tIns="45719" rIns="45719" bIns="45719">
            <a:normAutofit/>
          </a:bodyPr>
          <a:lstStyle/>
          <a:p>
            <a:pPr algn="l" defTabSz="411479">
              <a:spcBef>
                <a:spcPts val="400"/>
              </a:spcBef>
              <a:defRPr sz="1079"/>
            </a:pPr>
            <a:endParaRPr lang="en-IN" sz="1600" dirty="0"/>
          </a:p>
          <a:p>
            <a:pPr algn="l" defTabSz="411479">
              <a:spcBef>
                <a:spcPts val="400"/>
              </a:spcBef>
              <a:defRPr sz="1079"/>
            </a:pPr>
            <a:r>
              <a:rPr lang="en-IN" sz="1600" dirty="0"/>
              <a:t>Smart Invoice AI successfully implements a </a:t>
            </a:r>
            <a:r>
              <a:rPr lang="en-IN" sz="1600" dirty="0" err="1"/>
              <a:t>DBNet</a:t>
            </a:r>
            <a:r>
              <a:rPr lang="en-IN" sz="1600" dirty="0"/>
              <a:t>-style segmentation approach for invoice text region detection and achieves strong performance across quantitative and qualitative evaluations. The system is fairly suitable for integration into real-world OCR pipelines and lays the groundwork for future improvements, such as adaptive binarization modules and transformer-based OCR integration. </a:t>
            </a:r>
            <a:endParaRPr sz="1600" dirty="0"/>
          </a:p>
        </p:txBody>
      </p:sp>
      <p:pic>
        <p:nvPicPr>
          <p:cNvPr id="433" name="Picture Placeholder 19" descr="Picture Placeholder 19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9" r="9"/>
          <a:stretch>
            <a:fillRect/>
          </a:stretch>
        </p:blipFill>
        <p:spPr>
          <a:xfrm>
            <a:off x="6095587" y="0"/>
            <a:ext cx="6096000" cy="6858000"/>
          </a:xfrm>
          <a:prstGeom prst="rect">
            <a:avLst/>
          </a:prstGeom>
        </p:spPr>
      </p:pic>
      <p:pic>
        <p:nvPicPr>
          <p:cNvPr id="434" name="Picture 4" descr="Picture 4"/>
          <p:cNvPicPr>
            <a:picLocks noChangeAspect="1"/>
          </p:cNvPicPr>
          <p:nvPr/>
        </p:nvPicPr>
        <p:blipFill>
          <a:blip r:embed="rId3"/>
          <a:srcRect l="8411" t="7261"/>
          <a:stretch>
            <a:fillRect/>
          </a:stretch>
        </p:blipFill>
        <p:spPr>
          <a:xfrm>
            <a:off x="10653310" y="0"/>
            <a:ext cx="1538691" cy="1125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itle 1"/>
          <p:cNvSpPr txBox="1">
            <a:spLocks noGrp="1"/>
          </p:cNvSpPr>
          <p:nvPr>
            <p:ph type="title"/>
          </p:nvPr>
        </p:nvSpPr>
        <p:spPr>
          <a:xfrm>
            <a:off x="953636" y="2471058"/>
            <a:ext cx="3509508" cy="1175657"/>
          </a:xfrm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The End</a:t>
            </a:r>
          </a:p>
        </p:txBody>
      </p:sp>
      <p:grpSp>
        <p:nvGrpSpPr>
          <p:cNvPr id="439" name="Picture Placeholder 17"/>
          <p:cNvGrpSpPr/>
          <p:nvPr/>
        </p:nvGrpSpPr>
        <p:grpSpPr>
          <a:xfrm>
            <a:off x="5678049" y="788713"/>
            <a:ext cx="5132389" cy="5132388"/>
            <a:chOff x="0" y="0"/>
            <a:chExt cx="5132387" cy="5132387"/>
          </a:xfrm>
        </p:grpSpPr>
        <p:sp>
          <p:nvSpPr>
            <p:cNvPr id="437" name="Square"/>
            <p:cNvSpPr/>
            <p:nvPr/>
          </p:nvSpPr>
          <p:spPr>
            <a:xfrm>
              <a:off x="0" y="0"/>
              <a:ext cx="5132388" cy="5132388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438" name="image38.jpeg" descr="image38.jpe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5132388" cy="51323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DFloatVTI">
  <a:themeElements>
    <a:clrScheme name="3DFloatVTI">
      <a:dk1>
        <a:srgbClr val="000000"/>
      </a:dk1>
      <a:lt1>
        <a:srgbClr val="1B192E"/>
      </a:lt1>
      <a:dk2>
        <a:srgbClr val="A7A7A7"/>
      </a:dk2>
      <a:lt2>
        <a:srgbClr val="535353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00FF"/>
      </a:hlink>
      <a:folHlink>
        <a:srgbClr val="FF00FF"/>
      </a:folHlink>
    </a:clrScheme>
    <a:fontScheme name="3DFloat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3DFloat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DFloatVTI">
  <a:themeElements>
    <a:clrScheme name="3DFloat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00FF"/>
      </a:hlink>
      <a:folHlink>
        <a:srgbClr val="FF00FF"/>
      </a:folHlink>
    </a:clrScheme>
    <a:fontScheme name="3DFloat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3DFloat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923</Words>
  <Application>Microsoft Macintosh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Gill Sans MT</vt:lpstr>
      <vt:lpstr>Walbaum Display</vt:lpstr>
      <vt:lpstr>3DFloatVTI</vt:lpstr>
      <vt:lpstr>Smart Invoice AI – Automated Text Detection System  University of San Diego  Applied Computer Vision for AI (AAI-521-IN2)  Group 5:   Anusha S. L. Bandaru, Rakesh R. Bhatija, Nikhil Bembi   </vt:lpstr>
      <vt:lpstr>Project Team</vt:lpstr>
      <vt:lpstr>Dataset Selection</vt:lpstr>
      <vt:lpstr>Agenda</vt:lpstr>
      <vt:lpstr>Introduction &amp; Problem Statement</vt:lpstr>
      <vt:lpstr>Project Objectives &amp; Motivation</vt:lpstr>
      <vt:lpstr>Framework</vt:lpstr>
      <vt:lpstr>Methodology - Model &amp; Training</vt:lpstr>
      <vt:lpstr>Methodology – Model Performance</vt:lpstr>
      <vt:lpstr>Model Performance - Visualization</vt:lpstr>
      <vt:lpstr>Results</vt:lpstr>
      <vt:lpstr>Discussion &amp; Insights</vt:lpstr>
      <vt:lpstr>Future work</vt:lpstr>
      <vt:lpstr>Conclusion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Bembi</cp:lastModifiedBy>
  <cp:revision>32</cp:revision>
  <dcterms:modified xsi:type="dcterms:W3CDTF">2025-12-08T07:33:45Z</dcterms:modified>
</cp:coreProperties>
</file>